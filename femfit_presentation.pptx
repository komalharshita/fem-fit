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1645920"/>
            <a:ext cx="9445752" cy="3657600"/>
          </a:xfrm>
          <a:prstGeom prst="rect">
            <a:avLst/>
          </a:prstGeom>
          <a:solidFill>
            <a:srgbClr val="181818"/>
          </a:solidFill>
          <a:ln w="38100">
            <a:solidFill>
              <a:srgbClr val="B5E6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737360" y="2011680"/>
            <a:ext cx="8714232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400"/>
              </a:spcAft>
              <a:defRPr sz="5400" b="1">
                <a:solidFill>
                  <a:srgbClr val="B5E61D"/>
                </a:solidFill>
                <a:latin typeface="Trebuchet MS"/>
              </a:defRPr>
            </a:pPr>
            <a:r>
              <a:t>FEMFIT - INDUSTRIAL</a:t>
            </a:r>
          </a:p>
          <a:p>
            <a:pPr algn="ctr">
              <a:spcAft>
                <a:spcPts val="2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Edge-AI Smart Wearable Vest Calibrated for Female Ergonomics</a:t>
            </a:r>
          </a:p>
          <a:p>
            <a:pPr algn="ctr">
              <a:defRPr sz="1400" b="1">
                <a:solidFill>
                  <a:srgbClr val="F2C94C"/>
                </a:solidFill>
                <a:latin typeface="Trebuchet MS"/>
              </a:defRPr>
            </a:pPr>
            <a:r>
              <a:t>DEVELOPED BY: THE GILDED GIRL  |  KOMAL HARSHITA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91440" cy="777240"/>
          </a:xfrm>
          <a:prstGeom prst="rect">
            <a:avLst/>
          </a:prstGeom>
          <a:solidFill>
            <a:srgbClr val="B5E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0040"/>
            <a:ext cx="10515600" cy="868680"/>
          </a:xfrm>
          <a:prstGeom prst="rect">
            <a:avLst/>
          </a:prstGeom>
          <a:noFill/>
        </p:spPr>
        <p:txBody>
          <a:bodyPr wrap="square" tIns="0" bIns="0" l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F2C94C"/>
                </a:solidFill>
                <a:latin typeface="Trebuchet MS"/>
              </a:defRPr>
            </a:pPr>
            <a:r>
              <a:t>FEMFIT-INDUSTRIAL</a:t>
            </a:r>
          </a:p>
          <a:p>
            <a:pPr>
              <a:defRPr sz="2600" b="1">
                <a:solidFill>
                  <a:srgbClr val="B5E61D"/>
                </a:solidFill>
                <a:latin typeface="Trebuchet MS"/>
              </a:defRPr>
            </a:pPr>
            <a:r>
              <a:t>THE ERGONOMIC SAFETY GAP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5303520" cy="4754880"/>
          </a:xfrm>
          <a:prstGeom prst="roundRect">
            <a:avLst/>
          </a:prstGeom>
          <a:solidFill>
            <a:srgbClr val="181818"/>
          </a:solidFill>
          <a:ln w="15240">
            <a:solidFill>
              <a:srgbClr val="B5E6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4937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2C94C"/>
                </a:solidFill>
                <a:latin typeface="Trebuchet MS"/>
              </a:defRPr>
            </a:pPr>
            <a:r>
              <a:rPr sz="1300" b="1">
                <a:solidFill>
                  <a:srgbClr val="FFFFFF"/>
                </a:solidFill>
                <a:latin typeface="Calibri"/>
              </a:rPr>
              <a:t>Widespread MSD Injury:</a:t>
            </a:r>
            <a:r>
              <a:rPr sz="1300">
                <a:solidFill>
                  <a:srgbClr val="A0A0A0"/>
                </a:solidFill>
                <a:latin typeface="Calibri"/>
              </a:rPr>
              <a:t> Musculoskeletal Disorders (MSDs) are the leading cause of industrial worker absenteeism globally.</a:t>
            </a:r>
          </a:p>
          <a:p/>
          <a:p>
            <a:pPr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The Anthropometric Bias:</a:t>
            </a:r>
            <a:r>
              <a:rPr sz="1300">
                <a:solidFill>
                  <a:srgbClr val="A0A0A0"/>
                </a:solidFill>
                <a:latin typeface="Calibri"/>
              </a:rPr>
              <a:t> Standard safety vests and RULA/REBA guidelines assume male center of gravity and pelvic anatomy.</a:t>
            </a:r>
          </a:p>
          <a:p/>
          <a:p>
            <a:pPr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Female Lifting Vulnerability:</a:t>
            </a:r>
            <a:r>
              <a:rPr sz="1300">
                <a:solidFill>
                  <a:srgbClr val="A0A0A0"/>
                </a:solidFill>
                <a:latin typeface="Calibri"/>
              </a:rPr>
              <a:t> Females have different pelvic loading limits, meaning standard 'lifts' still cause high spine shear forces.</a:t>
            </a:r>
          </a:p>
          <a:p/>
          <a:p>
            <a:pPr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Mechanical Vibrations:</a:t>
            </a:r>
            <a:r>
              <a:rPr sz="1300">
                <a:solidFill>
                  <a:srgbClr val="A0A0A0"/>
                </a:solidFill>
                <a:latin typeface="Calibri"/>
              </a:rPr>
              <a:t> Continuous micro-vibrations from machinery damage vascular and nerve networks over time.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463040"/>
            <a:ext cx="5303520" cy="4754880"/>
          </a:xfrm>
          <a:prstGeom prst="roundRect">
            <a:avLst/>
          </a:prstGeom>
          <a:solidFill>
            <a:srgbClr val="181818"/>
          </a:solidFill>
          <a:ln w="15240">
            <a:solidFill>
              <a:srgbClr val="B5E6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645920"/>
            <a:ext cx="4937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B5E61D"/>
                </a:solidFill>
                <a:latin typeface="Trebuchet MS"/>
              </a:defRPr>
            </a:pPr>
            <a:r>
              <a:rPr sz="1300" b="1">
                <a:solidFill>
                  <a:srgbClr val="FFFFFF"/>
                </a:solidFill>
                <a:latin typeface="Calibri"/>
              </a:rPr>
              <a:t>Target User Base:</a:t>
            </a:r>
            <a:r>
              <a:rPr sz="1300">
                <a:solidFill>
                  <a:srgbClr val="A0A0A0"/>
                </a:solidFill>
                <a:latin typeface="Calibri"/>
              </a:rPr>
              <a:t> Over 150 Million female industrial and warehouse workers globally.</a:t>
            </a:r>
          </a:p>
          <a:p/>
          <a:p>
            <a:pPr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Financial Strain:</a:t>
            </a:r>
            <a:r>
              <a:rPr sz="1300">
                <a:solidFill>
                  <a:srgbClr val="A0A0A0"/>
                </a:solidFill>
                <a:latin typeface="Calibri"/>
              </a:rPr>
              <a:t> MSDs cost employers $50 Billion+ annually in worker compensation and lost productivity.</a:t>
            </a:r>
          </a:p>
          <a:p/>
          <a:p>
            <a:pPr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Smart Wearable Market:</a:t>
            </a:r>
            <a:r>
              <a:rPr sz="1300">
                <a:solidFill>
                  <a:srgbClr val="A0A0A0"/>
                </a:solidFill>
                <a:latin typeface="Calibri"/>
              </a:rPr>
              <a:t> Industrial IoT safety wearable market projected to cross $5 Billion by 2028.</a:t>
            </a:r>
          </a:p>
          <a:p/>
          <a:p>
            <a:pPr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Hackathon Objective:</a:t>
            </a:r>
            <a:r>
              <a:rPr sz="1300">
                <a:solidFill>
                  <a:srgbClr val="A0A0A0"/>
                </a:solidFill>
                <a:latin typeface="Calibri"/>
              </a:rPr>
              <a:t> Deliver a functional, low-cost ($20 unit cost) Edge-AI vest to prevent injury at the source.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91440" cy="777240"/>
          </a:xfrm>
          <a:prstGeom prst="rect">
            <a:avLst/>
          </a:prstGeom>
          <a:solidFill>
            <a:srgbClr val="B5E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0040"/>
            <a:ext cx="10515600" cy="868680"/>
          </a:xfrm>
          <a:prstGeom prst="rect">
            <a:avLst/>
          </a:prstGeom>
          <a:noFill/>
        </p:spPr>
        <p:txBody>
          <a:bodyPr wrap="square" tIns="0" bIns="0" l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F2C94C"/>
                </a:solidFill>
                <a:latin typeface="Trebuchet MS"/>
              </a:defRPr>
            </a:pPr>
            <a:r>
              <a:t>FEMFIT-INDUSTRIAL</a:t>
            </a:r>
          </a:p>
          <a:p>
            <a:pPr>
              <a:defRPr sz="2600" b="1">
                <a:solidFill>
                  <a:srgbClr val="B5E61D"/>
                </a:solidFill>
                <a:latin typeface="Trebuchet MS"/>
              </a:defRPr>
            </a:pPr>
            <a:r>
              <a:t>OBJECTIVE &amp; METHODOLOGY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5303520" cy="4754880"/>
          </a:xfrm>
          <a:prstGeom prst="roundRect">
            <a:avLst/>
          </a:prstGeom>
          <a:solidFill>
            <a:srgbClr val="181818"/>
          </a:solidFill>
          <a:ln w="15240">
            <a:solidFill>
              <a:srgbClr val="B5E6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4937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B5E61D"/>
                </a:solidFill>
                <a:latin typeface="Trebuchet MS"/>
              </a:defRPr>
            </a:pPr>
            <a:r>
              <a:rPr sz="1300" b="1">
                <a:solidFill>
                  <a:srgbClr val="FFFFFF"/>
                </a:solidFill>
                <a:latin typeface="Calibri"/>
              </a:rPr>
              <a:t>Edge AI Detection:</a:t>
            </a:r>
            <a:r>
              <a:rPr sz="1300">
                <a:solidFill>
                  <a:srgbClr val="A0A0A0"/>
                </a:solidFill>
                <a:latin typeface="Calibri"/>
              </a:rPr>
              <a:t> Implement zero-latency local classification of physical activities and safety risks.</a:t>
            </a:r>
          </a:p>
          <a:p/>
          <a:p>
            <a:pPr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Immediate Bio-Feedback:</a:t>
            </a:r>
            <a:r>
              <a:rPr sz="1300">
                <a:solidFill>
                  <a:srgbClr val="A0A0A0"/>
                </a:solidFill>
                <a:latin typeface="Calibri"/>
              </a:rPr>
              <a:t> Warn workers within 50ms of detecting an anomaly to immediately correct posture.</a:t>
            </a:r>
          </a:p>
          <a:p/>
          <a:p>
            <a:pPr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Continuous Machinery Assessment:</a:t>
            </a:r>
            <a:r>
              <a:rPr sz="1300">
                <a:solidFill>
                  <a:srgbClr val="A0A0A0"/>
                </a:solidFill>
                <a:latin typeface="Calibri"/>
              </a:rPr>
              <a:t> Track high-frequency vibrations to warn operators of vascular damage risks.</a:t>
            </a:r>
          </a:p>
          <a:p/>
          <a:p>
            <a:pPr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Edge Autonomy:</a:t>
            </a:r>
            <a:r>
              <a:rPr sz="1300">
                <a:solidFill>
                  <a:srgbClr val="A0A0A0"/>
                </a:solidFill>
                <a:latin typeface="Calibri"/>
              </a:rPr>
              <a:t> Eliminate dependency on cloud servers, ensuring operation in remote, offline industrial environments.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463040"/>
            <a:ext cx="5303520" cy="4754880"/>
          </a:xfrm>
          <a:prstGeom prst="roundRect">
            <a:avLst/>
          </a:prstGeom>
          <a:solidFill>
            <a:srgbClr val="181818"/>
          </a:solidFill>
          <a:ln w="15240">
            <a:solidFill>
              <a:srgbClr val="B5E6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645920"/>
            <a:ext cx="4937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2C94C"/>
                </a:solidFill>
                <a:latin typeface="Trebuchet MS"/>
              </a:defRPr>
            </a:pPr>
            <a:r>
              <a:rPr sz="1300" b="1">
                <a:solidFill>
                  <a:srgbClr val="FFFFFF"/>
                </a:solidFill>
                <a:latin typeface="Calibri"/>
              </a:rPr>
              <a:t>1. Sensor Fusion:</a:t>
            </a:r>
            <a:r>
              <a:rPr sz="1300">
                <a:solidFill>
                  <a:srgbClr val="A0A0A0"/>
                </a:solidFill>
                <a:latin typeface="Calibri"/>
              </a:rPr>
              <a:t> Read 6-axis IMU data (50Hz) mounted on the spine to get acceleration and angular velocities.</a:t>
            </a:r>
          </a:p>
          <a:p/>
          <a:p>
            <a:pPr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2. Local Processing:</a:t>
            </a:r>
            <a:r>
              <a:rPr sz="1300">
                <a:solidFill>
                  <a:srgbClr val="A0A0A0"/>
                </a:solidFill>
                <a:latin typeface="Calibri"/>
              </a:rPr>
              <a:t> Estimate precise pitch (trunk flexion) and roll (asymmetric twist) using a drift-free complementary filter.</a:t>
            </a:r>
          </a:p>
          <a:p/>
          <a:p>
            <a:pPr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3. Vibration Analytics:</a:t>
            </a:r>
            <a:r>
              <a:rPr sz="1300">
                <a:solidFill>
                  <a:srgbClr val="A0A0A0"/>
                </a:solidFill>
                <a:latin typeface="Calibri"/>
              </a:rPr>
              <a:t> Calculate rolling window variance to isolate machine-induced micro-vibrations from body movements.</a:t>
            </a:r>
          </a:p>
          <a:p/>
          <a:p>
            <a:pPr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4. Ergonomic Decision Matrix:</a:t>
            </a:r>
            <a:r>
              <a:rPr sz="1300">
                <a:solidFill>
                  <a:srgbClr val="A0A0A0"/>
                </a:solidFill>
                <a:latin typeface="Calibri"/>
              </a:rPr>
              <a:t> Apply RULA/REBA thresholds calibrated to female lumbar limits to command haptic vibrations.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91440" cy="777240"/>
          </a:xfrm>
          <a:prstGeom prst="rect">
            <a:avLst/>
          </a:prstGeom>
          <a:solidFill>
            <a:srgbClr val="B5E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0040"/>
            <a:ext cx="10515600" cy="868680"/>
          </a:xfrm>
          <a:prstGeom prst="rect">
            <a:avLst/>
          </a:prstGeom>
          <a:noFill/>
        </p:spPr>
        <p:txBody>
          <a:bodyPr wrap="square" tIns="0" bIns="0" l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F2C94C"/>
                </a:solidFill>
                <a:latin typeface="Trebuchet MS"/>
              </a:defRPr>
            </a:pPr>
            <a:r>
              <a:t>SOLUTION ARCHITECTURE</a:t>
            </a:r>
          </a:p>
          <a:p>
            <a:pPr>
              <a:defRPr sz="2600" b="1">
                <a:solidFill>
                  <a:srgbClr val="B5E61D"/>
                </a:solidFill>
                <a:latin typeface="Trebuchet MS"/>
              </a:defRPr>
            </a:pPr>
            <a:r>
              <a:t>FEMFIT-INDUSTRIAL SOLUTION OVERVIEW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3474720" cy="4754880"/>
          </a:xfrm>
          <a:prstGeom prst="roundRect">
            <a:avLst/>
          </a:prstGeom>
          <a:solidFill>
            <a:srgbClr val="181818"/>
          </a:solidFill>
          <a:ln w="15240">
            <a:solidFill>
              <a:srgbClr val="B5E6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3108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2C94C"/>
                </a:solidFill>
                <a:latin typeface="Trebuchet MS"/>
              </a:defRPr>
            </a:pPr>
            <a:r>
              <a:rPr sz="1300" b="1">
                <a:solidFill>
                  <a:srgbClr val="FFFFFF"/>
                </a:solidFill>
                <a:latin typeface="Calibri"/>
              </a:rPr>
              <a:t>Microcontroller:</a:t>
            </a:r>
            <a:r>
              <a:rPr sz="1300">
                <a:solidFill>
                  <a:srgbClr val="A0A0A0"/>
                </a:solidFill>
                <a:latin typeface="Calibri"/>
              </a:rPr>
              <a:t> ESP32 or Nano 33 BLE Sense processing local streams.</a:t>
            </a:r>
          </a:p>
          <a:p/>
          <a:p>
            <a:pPr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6-Axis IMU:</a:t>
            </a:r>
            <a:r>
              <a:rPr sz="1300">
                <a:solidFill>
                  <a:srgbClr val="A0A0A0"/>
                </a:solidFill>
                <a:latin typeface="Calibri"/>
              </a:rPr>
              <a:t> Onboard MPU6050 tracking linear and angular kinetics.</a:t>
            </a:r>
          </a:p>
          <a:p/>
          <a:p>
            <a:pPr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Haptic Motor:</a:t>
            </a:r>
            <a:r>
              <a:rPr sz="1300">
                <a:solidFill>
                  <a:srgbClr val="A0A0A0"/>
                </a:solidFill>
                <a:latin typeface="Calibri"/>
              </a:rPr>
              <a:t> High-amplitude ERM vibration disk for instant feedback.</a:t>
            </a:r>
          </a:p>
          <a:p/>
          <a:p>
            <a:pPr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Power:</a:t>
            </a:r>
            <a:r>
              <a:rPr sz="1300">
                <a:solidFill>
                  <a:srgbClr val="A0A0A0"/>
                </a:solidFill>
                <a:latin typeface="Calibri"/>
              </a:rPr>
              <a:t> Ultra-lightweight LiPo battery with power-saving deep sleep integration.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463040"/>
            <a:ext cx="3474720" cy="4754880"/>
          </a:xfrm>
          <a:prstGeom prst="roundRect">
            <a:avLst/>
          </a:prstGeom>
          <a:solidFill>
            <a:srgbClr val="181818"/>
          </a:solidFill>
          <a:ln w="15240">
            <a:solidFill>
              <a:srgbClr val="B5E6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26280" y="1645920"/>
            <a:ext cx="3108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B5E61D"/>
                </a:solidFill>
                <a:latin typeface="Trebuchet MS"/>
              </a:defRPr>
            </a:pPr>
            <a:r>
              <a:rPr sz="1300" b="1">
                <a:solidFill>
                  <a:srgbClr val="FFFFFF"/>
                </a:solidFill>
                <a:latin typeface="Calibri"/>
              </a:rPr>
              <a:t>Heuristic Phase:</a:t>
            </a:r>
            <a:r>
              <a:rPr sz="1300">
                <a:solidFill>
                  <a:srgbClr val="A0A0A0"/>
                </a:solidFill>
                <a:latin typeface="Calibri"/>
              </a:rPr>
              <a:t> Calibrated geometric decision matrix acting as the PoC classifier.</a:t>
            </a:r>
          </a:p>
          <a:p/>
          <a:p>
            <a:pPr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TinyML Upgrade:</a:t>
            </a:r>
            <a:r>
              <a:rPr sz="1300">
                <a:solidFill>
                  <a:srgbClr val="A0A0A0"/>
                </a:solidFill>
                <a:latin typeface="Calibri"/>
              </a:rPr>
              <a:t> TensorFlow Lite for Microcontrollers (TFLite Micro) pipeline.</a:t>
            </a:r>
          </a:p>
          <a:p/>
          <a:p>
            <a:pPr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Ultra-Low Latency:</a:t>
            </a:r>
            <a:r>
              <a:rPr sz="1300">
                <a:solidFill>
                  <a:srgbClr val="A0A0A0"/>
                </a:solidFill>
                <a:latin typeface="Calibri"/>
              </a:rPr>
              <a:t> On-chip processing executes calculations in under 5 milliseconds.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1463040"/>
            <a:ext cx="3474720" cy="4754880"/>
          </a:xfrm>
          <a:prstGeom prst="roundRect">
            <a:avLst/>
          </a:prstGeom>
          <a:solidFill>
            <a:srgbClr val="181818"/>
          </a:solidFill>
          <a:ln w="15240">
            <a:solidFill>
              <a:srgbClr val="B5E6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1645920"/>
            <a:ext cx="3108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2C94C"/>
                </a:solidFill>
                <a:latin typeface="Trebuchet MS"/>
              </a:defRPr>
            </a:pPr>
            <a:r>
              <a:rPr sz="1300" b="1">
                <a:solidFill>
                  <a:srgbClr val="FFFFFF"/>
                </a:solidFill>
                <a:latin typeface="Calibri"/>
              </a:rPr>
              <a:t>Gender-specific tuning:</a:t>
            </a:r>
            <a:r>
              <a:rPr sz="1300">
                <a:solidFill>
                  <a:srgbClr val="A0A0A0"/>
                </a:solidFill>
                <a:latin typeface="Calibri"/>
              </a:rPr>
              <a:t> Tailored pelvic limits and forward bending angles.</a:t>
            </a:r>
          </a:p>
          <a:p/>
          <a:p>
            <a:pPr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Smart Warning:</a:t>
            </a:r>
            <a:r>
              <a:rPr sz="1300">
                <a:solidFill>
                  <a:srgbClr val="A0A0A0"/>
                </a:solidFill>
                <a:latin typeface="Calibri"/>
              </a:rPr>
              <a:t> Distinct vibration alerts separating static posture limits from machine jitter.</a:t>
            </a:r>
          </a:p>
          <a:p/>
          <a:p>
            <a:pPr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Form-Factor:</a:t>
            </a:r>
            <a:r>
              <a:rPr sz="1300">
                <a:solidFill>
                  <a:srgbClr val="A0A0A0"/>
                </a:solidFill>
                <a:latin typeface="Calibri"/>
              </a:rPr>
              <a:t> Integrated directly into standard mesh safety vests.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91440" cy="777240"/>
          </a:xfrm>
          <a:prstGeom prst="rect">
            <a:avLst/>
          </a:prstGeom>
          <a:solidFill>
            <a:srgbClr val="B5E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0040"/>
            <a:ext cx="10515600" cy="868680"/>
          </a:xfrm>
          <a:prstGeom prst="rect">
            <a:avLst/>
          </a:prstGeom>
          <a:noFill/>
        </p:spPr>
        <p:txBody>
          <a:bodyPr wrap="square" tIns="0" bIns="0" l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F2C94C"/>
                </a:solidFill>
                <a:latin typeface="Trebuchet MS"/>
              </a:defRPr>
            </a:pPr>
            <a:r>
              <a:t>BIOMECHANICAL RATIONALE</a:t>
            </a:r>
          </a:p>
          <a:p>
            <a:pPr>
              <a:defRPr sz="2600" b="1">
                <a:solidFill>
                  <a:srgbClr val="B5E61D"/>
                </a:solidFill>
                <a:latin typeface="Trebuchet MS"/>
              </a:defRPr>
            </a:pPr>
            <a:r>
              <a:t>FEMALE ERGONOMIC CALIBRATION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5303520" cy="4754880"/>
          </a:xfrm>
          <a:prstGeom prst="roundRect">
            <a:avLst/>
          </a:prstGeom>
          <a:solidFill>
            <a:srgbClr val="181818"/>
          </a:solidFill>
          <a:ln w="15240">
            <a:solidFill>
              <a:srgbClr val="B5E6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4937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2C94C"/>
                </a:solidFill>
                <a:latin typeface="Trebuchet MS"/>
              </a:defRPr>
            </a:pPr>
            <a:r>
              <a:rPr sz="1300" b="1">
                <a:solidFill>
                  <a:srgbClr val="FFFFFF"/>
                </a:solidFill>
                <a:latin typeface="Calibri"/>
              </a:rPr>
              <a:t>Lower Center of Gravity:</a:t>
            </a:r>
            <a:r>
              <a:rPr sz="1300">
                <a:solidFill>
                  <a:srgbClr val="A0A0A0"/>
                </a:solidFill>
                <a:latin typeface="Calibri"/>
              </a:rPr>
              <a:t> Females balance load differently, making deep waist bends (flexion) significantly more stressful on lumbar discs (L4-S1).</a:t>
            </a:r>
          </a:p>
          <a:p/>
          <a:p>
            <a:pPr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Trunk Flexion (Pitch) Limits:</a:t>
            </a:r>
            <a:r>
              <a:rPr sz="1300">
                <a:solidFill>
                  <a:srgbClr val="A0A0A0"/>
                </a:solidFill>
                <a:latin typeface="Calibri"/>
              </a:rPr>
              <a:t> Warning at &gt;20 degrees (REBA score 2). Critical alert at &gt;45 degrees (REBA score 3/4) to prevent spinal shear.</a:t>
            </a:r>
          </a:p>
          <a:p/>
          <a:p>
            <a:pPr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Spinal Twisting (Roll/Yaw):</a:t>
            </a:r>
            <a:r>
              <a:rPr sz="1300">
                <a:solidFill>
                  <a:srgbClr val="A0A0A0"/>
                </a:solidFill>
                <a:latin typeface="Calibri"/>
              </a:rPr>
              <a:t> Warning at &gt;15 degrees. Combined bending and twisting is the #1 cause of acute disc herniations.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463040"/>
            <a:ext cx="5303520" cy="4754880"/>
          </a:xfrm>
          <a:prstGeom prst="roundRect">
            <a:avLst/>
          </a:prstGeom>
          <a:solidFill>
            <a:srgbClr val="181818"/>
          </a:solidFill>
          <a:ln w="15240">
            <a:solidFill>
              <a:srgbClr val="B5E6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645920"/>
            <a:ext cx="4937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B5E61D"/>
                </a:solidFill>
                <a:latin typeface="Trebuchet MS"/>
              </a:defRPr>
            </a:pPr>
            <a:r>
              <a:rPr sz="1300" b="1">
                <a:solidFill>
                  <a:srgbClr val="FFFFFF"/>
                </a:solidFill>
                <a:latin typeface="Calibri"/>
              </a:rPr>
              <a:t>Vibration Hazards:</a:t>
            </a:r>
            <a:r>
              <a:rPr sz="1300">
                <a:solidFill>
                  <a:srgbClr val="A0A0A0"/>
                </a:solidFill>
                <a:latin typeface="Calibri"/>
              </a:rPr>
              <a:t> Heavy machinery exposes workers to micro-vibrations between 10 Hz and 50 Hz.</a:t>
            </a:r>
          </a:p>
          <a:p/>
          <a:p>
            <a:pPr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Vascular Strain:</a:t>
            </a:r>
            <a:r>
              <a:rPr sz="1300">
                <a:solidFill>
                  <a:srgbClr val="A0A0A0"/>
                </a:solidFill>
                <a:latin typeface="Calibri"/>
              </a:rPr>
              <a:t> ISO 5349 limits define sustained exposure as a trigger for Hand-Arm Vibration Syndrome.</a:t>
            </a:r>
          </a:p>
          <a:p/>
          <a:p>
            <a:pPr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Detection Logic:</a:t>
            </a:r>
            <a:r>
              <a:rPr sz="1300">
                <a:solidFill>
                  <a:srgbClr val="A0A0A0"/>
                </a:solidFill>
                <a:latin typeface="Calibri"/>
              </a:rPr>
              <a:t> High-pass filtering isolated from postural sway. If high-frequency variance exceeds 0.3g RMS, the system triggers the alert.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91440" cy="777240"/>
          </a:xfrm>
          <a:prstGeom prst="rect">
            <a:avLst/>
          </a:prstGeom>
          <a:solidFill>
            <a:srgbClr val="B5E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0040"/>
            <a:ext cx="10515600" cy="868680"/>
          </a:xfrm>
          <a:prstGeom prst="rect">
            <a:avLst/>
          </a:prstGeom>
          <a:noFill/>
        </p:spPr>
        <p:txBody>
          <a:bodyPr wrap="square" tIns="0" bIns="0" l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F2C94C"/>
                </a:solidFill>
                <a:latin typeface="Trebuchet MS"/>
              </a:defRPr>
            </a:pPr>
            <a:r>
              <a:t>FEMFIT-INDUSTRIAL</a:t>
            </a:r>
          </a:p>
          <a:p>
            <a:pPr>
              <a:defRPr sz="2600" b="1">
                <a:solidFill>
                  <a:srgbClr val="B5E61D"/>
                </a:solidFill>
                <a:latin typeface="Trebuchet MS"/>
              </a:defRPr>
            </a:pPr>
            <a:r>
              <a:t>TECHNICAL IMPLEMENTATION 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5303520" cy="4754880"/>
          </a:xfrm>
          <a:prstGeom prst="roundRect">
            <a:avLst/>
          </a:prstGeom>
          <a:solidFill>
            <a:srgbClr val="181818"/>
          </a:solidFill>
          <a:ln w="15240">
            <a:solidFill>
              <a:srgbClr val="B5E6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4937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B5E61D"/>
                </a:solidFill>
                <a:latin typeface="Trebuchet MS"/>
              </a:defRPr>
            </a:pPr>
            <a:r>
              <a:rPr sz="1300" b="1">
                <a:solidFill>
                  <a:srgbClr val="FFFFFF"/>
                </a:solidFill>
                <a:latin typeface="Calibri"/>
              </a:rPr>
              <a:t>Simulation:</a:t>
            </a:r>
            <a:r>
              <a:rPr sz="1300">
                <a:solidFill>
                  <a:srgbClr val="A0A0A0"/>
                </a:solidFill>
                <a:latin typeface="Calibri"/>
              </a:rPr>
              <a:t> High-fidelity Python synthetic data generator recreating 8-hour shifts.</a:t>
            </a:r>
          </a:p>
          <a:p/>
          <a:p>
            <a:pPr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Edge Impulse:</a:t>
            </a:r>
            <a:r>
              <a:rPr sz="1300">
                <a:solidFill>
                  <a:srgbClr val="A0A0A0"/>
                </a:solidFill>
                <a:latin typeface="Calibri"/>
              </a:rPr>
              <a:t> CSV uploads structured in class folders for rapid spectral processing.</a:t>
            </a:r>
          </a:p>
          <a:p/>
          <a:p>
            <a:pPr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DSP Spectral Block:</a:t>
            </a:r>
            <a:r>
              <a:rPr sz="1300">
                <a:solidFill>
                  <a:srgbClr val="A0A0A0"/>
                </a:solidFill>
                <a:latin typeface="Calibri"/>
              </a:rPr>
              <a:t> Filters noise and extracts frequency power spectrum from IMU signals.</a:t>
            </a:r>
          </a:p>
          <a:p/>
          <a:p>
            <a:pPr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TFLite Classifier:</a:t>
            </a:r>
            <a:r>
              <a:rPr sz="1300">
                <a:solidFill>
                  <a:srgbClr val="A0A0A0"/>
                </a:solidFill>
                <a:latin typeface="Calibri"/>
              </a:rPr>
              <a:t> Neural network trained in Edge Impulse and exported as a lightweight C++ library.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463040"/>
            <a:ext cx="5303520" cy="4754880"/>
          </a:xfrm>
          <a:prstGeom prst="roundRect">
            <a:avLst/>
          </a:prstGeom>
          <a:solidFill>
            <a:srgbClr val="181818"/>
          </a:solidFill>
          <a:ln w="15240">
            <a:solidFill>
              <a:srgbClr val="B5E6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645920"/>
            <a:ext cx="4937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2C94C"/>
                </a:solidFill>
                <a:latin typeface="Trebuchet MS"/>
              </a:defRPr>
            </a:pPr>
            <a:r>
              <a:rPr sz="1300" b="1">
                <a:solidFill>
                  <a:srgbClr val="FFFFFF"/>
                </a:solidFill>
                <a:latin typeface="Calibri"/>
              </a:rPr>
              <a:t>IDE:</a:t>
            </a:r>
            <a:r>
              <a:rPr sz="1300">
                <a:solidFill>
                  <a:srgbClr val="A0A0A0"/>
                </a:solidFill>
                <a:latin typeface="Calibri"/>
              </a:rPr>
              <a:t> Built for Arduino IDE / ESP-IDF compiler.</a:t>
            </a:r>
          </a:p>
          <a:p/>
          <a:p>
            <a:pPr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Drift Mitigation:</a:t>
            </a:r>
            <a:r>
              <a:rPr sz="1300">
                <a:solidFill>
                  <a:srgbClr val="A0A0A0"/>
                </a:solidFill>
                <a:latin typeface="Calibri"/>
              </a:rPr>
              <a:t> Complementary Filter combining accelerometer gravity vectors and gyroscope integral rates.</a:t>
            </a:r>
          </a:p>
          <a:p/>
          <a:p>
            <a:pPr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Non-Blocking Scheduler:</a:t>
            </a:r>
            <a:r>
              <a:rPr sz="1300">
                <a:solidFill>
                  <a:srgbClr val="A0A0A0"/>
                </a:solidFill>
                <a:latin typeface="Calibri"/>
              </a:rPr>
              <a:t> Uses task loops (simulating RTOS) to query sensors and pulse haptics simultaneously without delays.</a:t>
            </a:r>
          </a:p>
          <a:p/>
          <a:p>
            <a:pPr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Safety Logic:</a:t>
            </a:r>
            <a:r>
              <a:rPr sz="1300">
                <a:solidFill>
                  <a:srgbClr val="A0A0A0"/>
                </a:solidFill>
                <a:latin typeface="Calibri"/>
              </a:rPr>
              <a:t> Real-time decision matrix evaluates thresholds instantly.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91440" cy="777240"/>
          </a:xfrm>
          <a:prstGeom prst="rect">
            <a:avLst/>
          </a:prstGeom>
          <a:solidFill>
            <a:srgbClr val="B5E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0040"/>
            <a:ext cx="10515600" cy="868680"/>
          </a:xfrm>
          <a:prstGeom prst="rect">
            <a:avLst/>
          </a:prstGeom>
          <a:noFill/>
        </p:spPr>
        <p:txBody>
          <a:bodyPr wrap="square" tIns="0" bIns="0" l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F2C94C"/>
                </a:solidFill>
                <a:latin typeface="Trebuchet MS"/>
              </a:defRPr>
            </a:pPr>
            <a:r>
              <a:t>FEMFIT-INDUSTRIAL</a:t>
            </a:r>
          </a:p>
          <a:p>
            <a:pPr>
              <a:defRPr sz="2600" b="1">
                <a:solidFill>
                  <a:srgbClr val="B5E61D"/>
                </a:solidFill>
                <a:latin typeface="Trebuchet MS"/>
              </a:defRPr>
            </a:pPr>
            <a:r>
              <a:t>CHALLENGES FACED &amp; MITIGATIONS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3474720" cy="4754880"/>
          </a:xfrm>
          <a:prstGeom prst="roundRect">
            <a:avLst/>
          </a:prstGeom>
          <a:solidFill>
            <a:srgbClr val="181818"/>
          </a:solidFill>
          <a:ln w="15240">
            <a:solidFill>
              <a:srgbClr val="B5E6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3108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2C94C"/>
                </a:solidFill>
                <a:latin typeface="Trebuchet MS"/>
              </a:defRPr>
            </a:pPr>
            <a:r>
              <a:rPr sz="1300" b="1">
                <a:solidFill>
                  <a:srgbClr val="FFFFFF"/>
                </a:solidFill>
                <a:latin typeface="Calibri"/>
              </a:rPr>
              <a:t>Challenge:</a:t>
            </a:r>
            <a:r>
              <a:rPr sz="1300">
                <a:solidFill>
                  <a:srgbClr val="A0A0A0"/>
                </a:solidFill>
                <a:latin typeface="Calibri"/>
              </a:rPr>
              <a:t> Gyroscope integration drifts over time, resulting in false posture warnings after minutes.</a:t>
            </a:r>
          </a:p>
          <a:p/>
          <a:p>
            <a:pPr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Mitigation:</a:t>
            </a:r>
            <a:r>
              <a:rPr sz="1300">
                <a:solidFill>
                  <a:srgbClr val="A0A0A0"/>
                </a:solidFill>
                <a:latin typeface="Calibri"/>
              </a:rPr>
              <a:t> Implemented a fast-converging complementary filter ($0.98$ gyro + $0.02$ accel) to bound pitch/roll errors to 1 degree.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463040"/>
            <a:ext cx="3474720" cy="4754880"/>
          </a:xfrm>
          <a:prstGeom prst="roundRect">
            <a:avLst/>
          </a:prstGeom>
          <a:solidFill>
            <a:srgbClr val="181818"/>
          </a:solidFill>
          <a:ln w="15240">
            <a:solidFill>
              <a:srgbClr val="B5E6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26280" y="1645920"/>
            <a:ext cx="3108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B5E61D"/>
                </a:solidFill>
                <a:latin typeface="Trebuchet MS"/>
              </a:defRPr>
            </a:pPr>
            <a:r>
              <a:rPr sz="1300" b="1">
                <a:solidFill>
                  <a:srgbClr val="FFFFFF"/>
                </a:solidFill>
                <a:latin typeface="Calibri"/>
              </a:rPr>
              <a:t>Challenge:</a:t>
            </a:r>
            <a:r>
              <a:rPr sz="1300">
                <a:solidFill>
                  <a:srgbClr val="A0A0A0"/>
                </a:solidFill>
                <a:latin typeface="Calibri"/>
              </a:rPr>
              <a:t> If alert processing takes &gt;100ms, the worker has completed the lift, rendering the warning useless.</a:t>
            </a:r>
          </a:p>
          <a:p/>
          <a:p>
            <a:pPr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Mitigation:</a:t>
            </a:r>
            <a:r>
              <a:rPr sz="1300">
                <a:solidFill>
                  <a:srgbClr val="A0A0A0"/>
                </a:solidFill>
                <a:latin typeface="Calibri"/>
              </a:rPr>
              <a:t> Replaced heavy floating-point algebra with fixed-point decision matrix, executing calculations in &lt;5ms.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1463040"/>
            <a:ext cx="3474720" cy="4754880"/>
          </a:xfrm>
          <a:prstGeom prst="roundRect">
            <a:avLst/>
          </a:prstGeom>
          <a:solidFill>
            <a:srgbClr val="181818"/>
          </a:solidFill>
          <a:ln w="15240">
            <a:solidFill>
              <a:srgbClr val="B5E6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1645920"/>
            <a:ext cx="3108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2C94C"/>
                </a:solidFill>
                <a:latin typeface="Trebuchet MS"/>
              </a:defRPr>
            </a:pPr>
            <a:r>
              <a:rPr sz="1300" b="1">
                <a:solidFill>
                  <a:srgbClr val="FFFFFF"/>
                </a:solidFill>
                <a:latin typeface="Calibri"/>
              </a:rPr>
              <a:t>Challenge:</a:t>
            </a:r>
            <a:r>
              <a:rPr sz="1300">
                <a:solidFill>
                  <a:srgbClr val="A0A0A0"/>
                </a:solidFill>
                <a:latin typeface="Calibri"/>
              </a:rPr>
              <a:t> Gathering real IMU training data for female posture anomalies takes months.</a:t>
            </a:r>
          </a:p>
          <a:p/>
          <a:p>
            <a:pPr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Mitigation:</a:t>
            </a:r>
            <a:r>
              <a:rPr sz="1300">
                <a:solidFill>
                  <a:srgbClr val="A0A0A0"/>
                </a:solidFill>
                <a:latin typeface="Calibri"/>
              </a:rPr>
              <a:t> Built a synthetic simulation script in Python to generate thousands of labeled trials representing clean baselines and specific strains.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91440" cy="777240"/>
          </a:xfrm>
          <a:prstGeom prst="rect">
            <a:avLst/>
          </a:prstGeom>
          <a:solidFill>
            <a:srgbClr val="B5E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0040"/>
            <a:ext cx="10515600" cy="868680"/>
          </a:xfrm>
          <a:prstGeom prst="rect">
            <a:avLst/>
          </a:prstGeom>
          <a:noFill/>
        </p:spPr>
        <p:txBody>
          <a:bodyPr wrap="square" tIns="0" bIns="0" l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F2C94C"/>
                </a:solidFill>
                <a:latin typeface="Trebuchet MS"/>
              </a:defRPr>
            </a:pPr>
            <a:r>
              <a:t>FEMFIT-INDUSTRIAL</a:t>
            </a:r>
          </a:p>
          <a:p>
            <a:pPr>
              <a:defRPr sz="2600" b="1">
                <a:solidFill>
                  <a:srgbClr val="B5E61D"/>
                </a:solidFill>
                <a:latin typeface="Trebuchet MS"/>
              </a:defRPr>
            </a:pPr>
            <a:r>
              <a:t>OUTCOMES AND ACHIEVEMENTS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5303520" cy="4754880"/>
          </a:xfrm>
          <a:prstGeom prst="roundRect">
            <a:avLst/>
          </a:prstGeom>
          <a:solidFill>
            <a:srgbClr val="181818"/>
          </a:solidFill>
          <a:ln w="15240">
            <a:solidFill>
              <a:srgbClr val="B5E6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4937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B5E61D"/>
                </a:solidFill>
                <a:latin typeface="Trebuchet MS"/>
              </a:defRPr>
            </a:pPr>
            <a:r>
              <a:rPr sz="1300" b="1">
                <a:solidFill>
                  <a:srgbClr val="FFFFFF"/>
                </a:solidFill>
                <a:latin typeface="Calibri"/>
              </a:rPr>
              <a:t>Injury Reduction:</a:t>
            </a:r>
            <a:r>
              <a:rPr sz="1300">
                <a:solidFill>
                  <a:srgbClr val="A0A0A0"/>
                </a:solidFill>
                <a:latin typeface="Calibri"/>
              </a:rPr>
              <a:t> Targeted 60%+ drop in back muscle strain and fatigue-related MSD cases over 12 months.</a:t>
            </a:r>
          </a:p>
          <a:p/>
          <a:p>
            <a:pPr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Immediate Correction:</a:t>
            </a:r>
            <a:r>
              <a:rPr sz="1300">
                <a:solidFill>
                  <a:srgbClr val="A0A0A0"/>
                </a:solidFill>
                <a:latin typeface="Calibri"/>
              </a:rPr>
              <a:t> Over 90% compliance rate expected as workers instinctively correct posture during haptic pulsing.</a:t>
            </a:r>
          </a:p>
          <a:p/>
          <a:p>
            <a:pPr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Operational Efficiency:</a:t>
            </a:r>
            <a:r>
              <a:rPr sz="1300">
                <a:solidFill>
                  <a:srgbClr val="A0A0A0"/>
                </a:solidFill>
                <a:latin typeface="Calibri"/>
              </a:rPr>
              <a:t> Lower absenteeism, leading to an estimated 15% increase in shift productivity.</a:t>
            </a:r>
          </a:p>
          <a:p/>
          <a:p>
            <a:pPr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ROI:</a:t>
            </a:r>
            <a:r>
              <a:rPr sz="1300">
                <a:solidFill>
                  <a:srgbClr val="A0A0A0"/>
                </a:solidFill>
                <a:latin typeface="Calibri"/>
              </a:rPr>
              <a:t> Vest pays for itself in less than 3 months by avoiding a single MSD workers' comp claim.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463040"/>
            <a:ext cx="5303520" cy="4754880"/>
          </a:xfrm>
          <a:prstGeom prst="roundRect">
            <a:avLst/>
          </a:prstGeom>
          <a:solidFill>
            <a:srgbClr val="181818"/>
          </a:solidFill>
          <a:ln w="15240">
            <a:solidFill>
              <a:srgbClr val="B5E6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645920"/>
            <a:ext cx="4937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2C94C"/>
                </a:solidFill>
                <a:latin typeface="Trebuchet MS"/>
              </a:defRPr>
            </a:pPr>
            <a:r>
              <a:rPr sz="1300" b="1">
                <a:solidFill>
                  <a:srgbClr val="FFFFFF"/>
                </a:solidFill>
                <a:latin typeface="Calibri"/>
              </a:rPr>
              <a:t>High-fidelity Simulator:</a:t>
            </a:r>
            <a:r>
              <a:rPr sz="1300">
                <a:solidFill>
                  <a:srgbClr val="A0A0A0"/>
                </a:solidFill>
                <a:latin typeface="Calibri"/>
              </a:rPr>
              <a:t> Successfully generated 120 dataset trials mapping diverse ergonomic movements.</a:t>
            </a:r>
          </a:p>
          <a:p/>
          <a:p>
            <a:pPr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Robust Firmware:</a:t>
            </a:r>
            <a:r>
              <a:rPr sz="1300">
                <a:solidFill>
                  <a:srgbClr val="A0A0A0"/>
                </a:solidFill>
                <a:latin typeface="Calibri"/>
              </a:rPr>
              <a:t> Created a dual-target Arduino firmware (ESP32 / BLE Sense) with complementary filter.</a:t>
            </a:r>
          </a:p>
          <a:p/>
          <a:p>
            <a:pPr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Modular Code:</a:t>
            </a:r>
            <a:r>
              <a:rPr sz="1300">
                <a:solidFill>
                  <a:srgbClr val="A0A0A0"/>
                </a:solidFill>
                <a:latin typeface="Calibri"/>
              </a:rPr>
              <a:t> Handled non-blocking haptic state logic for distinct warning patterns.</a:t>
            </a:r>
          </a:p>
          <a:p/>
          <a:p>
            <a:pPr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TinyML Ready:</a:t>
            </a:r>
            <a:r>
              <a:rPr sz="1300">
                <a:solidFill>
                  <a:srgbClr val="A0A0A0"/>
                </a:solidFill>
                <a:latin typeface="Calibri"/>
              </a:rPr>
              <a:t> Established a seamless transition path to Edge Impulse.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91440" cy="777240"/>
          </a:xfrm>
          <a:prstGeom prst="rect">
            <a:avLst/>
          </a:prstGeom>
          <a:solidFill>
            <a:srgbClr val="B5E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0040"/>
            <a:ext cx="10515600" cy="868680"/>
          </a:xfrm>
          <a:prstGeom prst="rect">
            <a:avLst/>
          </a:prstGeom>
          <a:noFill/>
        </p:spPr>
        <p:txBody>
          <a:bodyPr wrap="square" tIns="0" bIns="0" l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F2C94C"/>
                </a:solidFill>
                <a:latin typeface="Trebuchet MS"/>
              </a:defRPr>
            </a:pPr>
            <a:r>
              <a:t>FEMFIT-INDUSTRIAL</a:t>
            </a:r>
          </a:p>
          <a:p>
            <a:pPr>
              <a:defRPr sz="2600" b="1">
                <a:solidFill>
                  <a:srgbClr val="B5E61D"/>
                </a:solidFill>
                <a:latin typeface="Trebuchet MS"/>
              </a:defRPr>
            </a:pPr>
            <a:r>
              <a:t>SYSTEM PROTOTYPE &amp; VERIFICATION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5303520" cy="4754880"/>
          </a:xfrm>
          <a:prstGeom prst="roundRect">
            <a:avLst/>
          </a:prstGeom>
          <a:solidFill>
            <a:srgbClr val="181818"/>
          </a:solidFill>
          <a:ln w="15240">
            <a:solidFill>
              <a:srgbClr val="B5E6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4937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2C94C"/>
                </a:solidFill>
                <a:latin typeface="Trebuchet MS"/>
              </a:defRPr>
            </a:pPr>
            <a:r>
              <a:rPr sz="1300" b="1">
                <a:solidFill>
                  <a:srgbClr val="FFFFFF"/>
                </a:solidFill>
                <a:latin typeface="Calibri"/>
              </a:rPr>
              <a:t>Visual Feedback:</a:t>
            </a:r>
            <a:r>
              <a:rPr sz="1300">
                <a:solidFill>
                  <a:srgbClr val="A0A0A0"/>
                </a:solidFill>
                <a:latin typeface="Calibri"/>
              </a:rPr>
              <a:t> Microcontroller continuously reads IMU data and processes sensor orientation.</a:t>
            </a:r>
          </a:p>
          <a:p/>
          <a:p>
            <a:pPr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Warning 1:</a:t>
            </a:r>
            <a:r>
              <a:rPr sz="1300">
                <a:solidFill>
                  <a:srgbClr val="A0A0A0"/>
                </a:solidFill>
                <a:latin typeface="Calibri"/>
              </a:rPr>
              <a:t> Posture Fix (Pitch 20-45 deg) -&gt; Moderate short pulses (200ms ON, 400ms OFF) prompting correction.</a:t>
            </a:r>
          </a:p>
          <a:p/>
          <a:p>
            <a:pPr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Warning 2:</a:t>
            </a:r>
            <a:r>
              <a:rPr sz="1300">
                <a:solidFill>
                  <a:srgbClr val="A0A0A0"/>
                </a:solidFill>
                <a:latin typeface="Calibri"/>
              </a:rPr>
              <a:t> Critical Strain (Pitch &gt;45 deg OR Roll &gt;20 deg) -&gt; Rapid warning double pulses (100ms ON/OFF/ON, 500ms OFF).</a:t>
            </a:r>
          </a:p>
          <a:p/>
          <a:p>
            <a:pPr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Warning 3:</a:t>
            </a:r>
            <a:r>
              <a:rPr sz="1300">
                <a:solidFill>
                  <a:srgbClr val="A0A0A0"/>
                </a:solidFill>
                <a:latin typeface="Calibri"/>
              </a:rPr>
              <a:t> Machinery Jitter -&gt; Extended sustained vibrations (800ms ON, 200ms OFF) warning of vibration overload.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463040"/>
            <a:ext cx="5303520" cy="4754880"/>
          </a:xfrm>
          <a:prstGeom prst="roundRect">
            <a:avLst/>
          </a:prstGeom>
          <a:solidFill>
            <a:srgbClr val="181818"/>
          </a:solidFill>
          <a:ln w="15240">
            <a:solidFill>
              <a:srgbClr val="B5E6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645920"/>
            <a:ext cx="4937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B5E61D"/>
                </a:solidFill>
                <a:latin typeface="Trebuchet MS"/>
              </a:defRPr>
            </a:pPr>
            <a:r>
              <a:rPr sz="1300" b="1">
                <a:solidFill>
                  <a:srgbClr val="FFFFFF"/>
                </a:solidFill>
                <a:latin typeface="Calibri"/>
              </a:rPr>
              <a:t>Complementary Filter:</a:t>
            </a:r>
            <a:r>
              <a:rPr sz="1300">
                <a:solidFill>
                  <a:srgbClr val="A0A0A0"/>
                </a:solidFill>
                <a:latin typeface="Calibri"/>
              </a:rPr>
              <a:t> $Pitch = 0.98*(Pitch + Gyro*dt) + 0.02*AccelAngle$ guarantees zero gyro drift while filtering high-frequency noise.</a:t>
            </a:r>
          </a:p>
          <a:p/>
          <a:p>
            <a:pPr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Vibration RMS:</a:t>
            </a:r>
            <a:r>
              <a:rPr sz="1300">
                <a:solidFill>
                  <a:srgbClr val="A0A0A0"/>
                </a:solidFill>
                <a:latin typeface="Calibri"/>
              </a:rPr>
              <a:t> Sliding window variance $Var = \Sigma(a_i - \mu)^2 / N$ captures mechanical vibrations from 10Hz to 25Hz.</a:t>
            </a:r>
          </a:p>
          <a:p/>
          <a:p>
            <a:pPr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Execution Time:</a:t>
            </a:r>
            <a:r>
              <a:rPr sz="1300">
                <a:solidFill>
                  <a:srgbClr val="A0A0A0"/>
                </a:solidFill>
                <a:latin typeface="Calibri"/>
              </a:rPr>
              <a:t> Under 4ms per loop iteration, easily beating the &lt;50ms hackathon latency budget.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91440" cy="777240"/>
          </a:xfrm>
          <a:prstGeom prst="rect">
            <a:avLst/>
          </a:prstGeom>
          <a:solidFill>
            <a:srgbClr val="B5E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0040"/>
            <a:ext cx="10515600" cy="868680"/>
          </a:xfrm>
          <a:prstGeom prst="rect">
            <a:avLst/>
          </a:prstGeom>
          <a:noFill/>
        </p:spPr>
        <p:txBody>
          <a:bodyPr wrap="square" tIns="0" bIns="0" l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F2C94C"/>
                </a:solidFill>
                <a:latin typeface="Trebuchet MS"/>
              </a:defRPr>
            </a:pPr>
            <a:r>
              <a:t>FEMFIT-INDUSTRIAL</a:t>
            </a:r>
          </a:p>
          <a:p>
            <a:pPr>
              <a:defRPr sz="2600" b="1">
                <a:solidFill>
                  <a:srgbClr val="B5E61D"/>
                </a:solidFill>
                <a:latin typeface="Trebuchet MS"/>
              </a:defRPr>
            </a:pPr>
            <a:r>
              <a:t>PROJECT ROADMAP &amp; FUTURE PLAN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5303520" cy="4754880"/>
          </a:xfrm>
          <a:prstGeom prst="roundRect">
            <a:avLst/>
          </a:prstGeom>
          <a:solidFill>
            <a:srgbClr val="181818"/>
          </a:solidFill>
          <a:ln w="15240">
            <a:solidFill>
              <a:srgbClr val="B5E6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4937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2C94C"/>
                </a:solidFill>
                <a:latin typeface="Trebuchet MS"/>
              </a:defRPr>
            </a:pPr>
            <a:r>
              <a:rPr sz="1300" b="1">
                <a:solidFill>
                  <a:srgbClr val="FFFFFF"/>
                </a:solidFill>
                <a:latin typeface="Calibri"/>
              </a:rPr>
              <a:t>1. Edge Impulse Deploy:</a:t>
            </a:r>
            <a:r>
              <a:rPr sz="1300">
                <a:solidFill>
                  <a:srgbClr val="A0A0A0"/>
                </a:solidFill>
                <a:latin typeface="Calibri"/>
              </a:rPr>
              <a:t> Train a 1D Convolutional Neural Network (CNN) on Edge Impulse, compile it as a TFLite Micro model, and deploy it to replace the heuristic C++ code.</a:t>
            </a:r>
          </a:p>
          <a:p/>
          <a:p>
            <a:pPr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2. Custom Hardware:</a:t>
            </a:r>
            <a:r>
              <a:rPr sz="1300">
                <a:solidFill>
                  <a:srgbClr val="A0A0A0"/>
                </a:solidFill>
                <a:latin typeface="Calibri"/>
              </a:rPr>
              <a:t> Shrink ESP32 system into a custom coin-sized PCB integrated with ultra-thin flexible piezo actuators.</a:t>
            </a:r>
          </a:p>
          <a:p/>
          <a:p>
            <a:pPr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3. BLE Telemetry:</a:t>
            </a:r>
            <a:r>
              <a:rPr sz="1300">
                <a:solidFill>
                  <a:srgbClr val="A0A0A0"/>
                </a:solidFill>
                <a:latin typeface="Calibri"/>
              </a:rPr>
              <a:t> Stream real-time anomaly telemetry to an industrial dashboard for safety supervisor review.</a:t>
            </a:r>
          </a:p>
          <a:p/>
          <a:p>
            <a:pPr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4. Multi-Sensor Mesh:</a:t>
            </a:r>
            <a:r>
              <a:rPr sz="1300">
                <a:solidFill>
                  <a:srgbClr val="A0A0A0"/>
                </a:solidFill>
                <a:latin typeface="Calibri"/>
              </a:rPr>
              <a:t> Place secondary IMU node on the worker's thigh to verify squat vs. stoop biomechanics.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463040"/>
            <a:ext cx="5303520" cy="4754880"/>
          </a:xfrm>
          <a:prstGeom prst="roundRect">
            <a:avLst/>
          </a:prstGeom>
          <a:solidFill>
            <a:srgbClr val="181818"/>
          </a:solidFill>
          <a:ln w="15240">
            <a:solidFill>
              <a:srgbClr val="B5E6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645920"/>
            <a:ext cx="4937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B5E61D"/>
                </a:solidFill>
                <a:latin typeface="Trebuchet MS"/>
              </a:defRPr>
            </a:pPr>
            <a:r>
              <a:rPr sz="1300" b="1">
                <a:solidFill>
                  <a:srgbClr val="FFFFFF"/>
                </a:solidFill>
                <a:latin typeface="Calibri"/>
              </a:rPr>
              <a:t>Milestone 1 (Hackathon Day 1):</a:t>
            </a:r>
            <a:r>
              <a:rPr sz="1300">
                <a:solidFill>
                  <a:srgbClr val="A0A0A0"/>
                </a:solidFill>
                <a:latin typeface="Calibri"/>
              </a:rPr>
              <a:t> Complete data generation, write C++ sensor drivers, and verify pitch/roll complementary filter.</a:t>
            </a:r>
          </a:p>
          <a:p/>
          <a:p>
            <a:pPr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Milestone 2 (Hackathon Day 2):</a:t>
            </a:r>
            <a:r>
              <a:rPr sz="1300">
                <a:solidFill>
                  <a:srgbClr val="A0A0A0"/>
                </a:solidFill>
                <a:latin typeface="Calibri"/>
              </a:rPr>
              <a:t> Tune RULA/REBA threshold matrices and test the haptic alarm state machine on hardware.</a:t>
            </a:r>
          </a:p>
          <a:p/>
          <a:p>
            <a:pPr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Milestone 3 (Post-Hackathon Wk 1):</a:t>
            </a:r>
            <a:r>
              <a:rPr sz="1300">
                <a:solidFill>
                  <a:srgbClr val="A0A0A0"/>
                </a:solidFill>
                <a:latin typeface="Calibri"/>
              </a:rPr>
              <a:t> Ingest synthetic dataset into Edge Impulse and deploy the compiled TFLite Micro model.</a:t>
            </a:r>
          </a:p>
          <a:p/>
          <a:p>
            <a:pPr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Milestone 4 (Post-Hackathon Wk 2-3):</a:t>
            </a:r>
            <a:r>
              <a:rPr sz="1300">
                <a:solidFill>
                  <a:srgbClr val="A0A0A0"/>
                </a:solidFill>
                <a:latin typeface="Calibri"/>
              </a:rPr>
              <a:t> Conduct field tests with 10 female warehouse operators to refine biomechanical angles.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