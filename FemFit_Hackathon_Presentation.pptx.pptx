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20"/>
    </p:embeddedFont>
    <p:embeddedFont>
      <p:font typeface="Montserrat Italics" charset="1" panose="00000500000000000000"/>
      <p:regular r:id="rId21"/>
    </p:embeddedFon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 and the team. Emphasize the female-centric ergonomic focus and the edge AI approach with zero cloud latency.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 that existing safety tools were built on male baselines. The market opportunity is massive and underserved.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4-stage pipeline: Sense → Compute → Classify → Alert. Stress the zero-cloud, on-device nature.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each of the three layers. The hardware is commodity but the intelligence layer is what makes this novel.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Stress the female-first approach and the fact this works completely offline. These are the two biggest differentiators.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honest about the synthetic data limitation. Explain the production path to real labelled data from volunteer testing.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pipeline left to right. Mention that the 14-byte burst read is a key optimization vs reading each register separately.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are PoC benchmarks. The 92% accuracy is the target on the synthetic dataset — state clearly this needs real-world validation.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Phase 4 (menstrual cycle adaptation) is the long-term moonshot. Ground the audience in Phase 2 as the immediate next step.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weeks is achievable for a 2-person team. Be prepared to talk about what could be descoped if timeline slips (drop BLE, keep core haptic loop).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with conviction. The ask: feedback, connections to industrial PPE companies, and interest from fellow researchers in the dataset.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306"/>
            <a:ext cx="11363963" cy="10816675"/>
            <a:chOff x="0" y="0"/>
            <a:chExt cx="15151951" cy="14422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51988" cy="14422272"/>
            </a:xfrm>
            <a:custGeom>
              <a:avLst/>
              <a:gdLst/>
              <a:ahLst/>
              <a:cxnLst/>
              <a:rect r="r" b="b" t="t" l="l"/>
              <a:pathLst>
                <a:path h="14422272" w="15151988">
                  <a:moveTo>
                    <a:pt x="0" y="0"/>
                  </a:moveTo>
                  <a:lnTo>
                    <a:pt x="15151988" y="0"/>
                  </a:lnTo>
                  <a:lnTo>
                    <a:pt x="15151988" y="14422272"/>
                  </a:lnTo>
                  <a:lnTo>
                    <a:pt x="0" y="14422272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325863" y="-12697"/>
            <a:ext cx="6974843" cy="10312403"/>
            <a:chOff x="0" y="0"/>
            <a:chExt cx="929979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325863" y="8216903"/>
            <a:ext cx="6974843" cy="2082803"/>
            <a:chOff x="0" y="0"/>
            <a:chExt cx="9299791" cy="2777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9829" cy="2777109"/>
            </a:xfrm>
            <a:custGeom>
              <a:avLst/>
              <a:gdLst/>
              <a:ahLst/>
              <a:cxnLst/>
              <a:rect r="r" b="b" t="t" l="l"/>
              <a:pathLst>
                <a:path h="2777109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2777109"/>
                  </a:lnTo>
                  <a:lnTo>
                    <a:pt x="0" y="2777109"/>
                  </a:ln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1005840"/>
            <a:ext cx="10058400" cy="2291746"/>
            <a:chOff x="0" y="0"/>
            <a:chExt cx="13411200" cy="3055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3055662"/>
            </a:xfrm>
            <a:custGeom>
              <a:avLst/>
              <a:gdLst/>
              <a:ahLst/>
              <a:cxnLst/>
              <a:rect r="r" b="b" t="t" l="l"/>
              <a:pathLst>
                <a:path h="305566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055662"/>
                  </a:lnTo>
                  <a:lnTo>
                    <a:pt x="0" y="3055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0" b="-194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3411200" cy="3055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spc="1599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FEMFIT-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579814"/>
            <a:ext cx="9875520" cy="914400"/>
            <a:chOff x="0" y="0"/>
            <a:chExt cx="1316736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673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3167360" cy="120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2A2A2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Edge AI Safety Vest for Female Industrial Workers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263" y="5664397"/>
            <a:ext cx="4597403" cy="116843"/>
            <a:chOff x="0" y="0"/>
            <a:chExt cx="6129871" cy="155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9909" cy="155829"/>
            </a:xfrm>
            <a:custGeom>
              <a:avLst/>
              <a:gdLst/>
              <a:ahLst/>
              <a:cxnLst/>
              <a:rect r="r" b="b" t="t" l="l"/>
              <a:pathLst>
                <a:path h="155829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6042854"/>
            <a:ext cx="10058400" cy="731520"/>
            <a:chOff x="0" y="0"/>
            <a:chExt cx="1341120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341120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GILDED GIRL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6737798"/>
            <a:ext cx="10058400" cy="967397"/>
            <a:chOff x="0" y="0"/>
            <a:chExt cx="13411200" cy="12898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1289863"/>
            </a:xfrm>
            <a:custGeom>
              <a:avLst/>
              <a:gdLst/>
              <a:ahLst/>
              <a:cxnLst/>
              <a:rect r="r" b="b" t="t" l="l"/>
              <a:pathLst>
                <a:path h="1289863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289863"/>
                  </a:lnTo>
                  <a:lnTo>
                    <a:pt x="0" y="1289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58" r="0" b="-14512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411200" cy="1289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Komal Harshita K.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7542470"/>
            <a:ext cx="10058400" cy="585216"/>
            <a:chOff x="0" y="0"/>
            <a:chExt cx="134112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4112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2A2A2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B.E. Computer Science  |  Savitribai Phule Pune University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109398"/>
            <a:ext cx="10058400" cy="512064"/>
            <a:chOff x="0" y="0"/>
            <a:chExt cx="134112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4112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Analytics  •  TinyML  •  Edge AI  •  Industrial IoT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12880" y="1005840"/>
            <a:ext cx="6217920" cy="1645920"/>
            <a:chOff x="0" y="0"/>
            <a:chExt cx="829056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90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829056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 spc="600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TATA INNOVENT </a:t>
              </a:r>
              <a:r>
                <a:rPr lang="en-US" b="true" sz="2600" spc="600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HACKATHON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783063" y="3096263"/>
            <a:ext cx="5877563" cy="1214123"/>
            <a:chOff x="0" y="0"/>
            <a:chExt cx="7836751" cy="161883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836751" cy="1618831"/>
              <a:chOff x="0" y="0"/>
              <a:chExt cx="7836751" cy="161883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836789" cy="1618869"/>
              </a:xfrm>
              <a:custGeom>
                <a:avLst/>
                <a:gdLst/>
                <a:ahLst/>
                <a:cxnLst/>
                <a:rect r="r" b="b" t="t" l="l"/>
                <a:pathLst>
                  <a:path h="1618869" w="7836789">
                    <a:moveTo>
                      <a:pt x="0" y="199263"/>
                    </a:moveTo>
                    <a:cubicBezTo>
                      <a:pt x="0" y="89154"/>
                      <a:pt x="89154" y="0"/>
                      <a:pt x="199263" y="0"/>
                    </a:cubicBezTo>
                    <a:lnTo>
                      <a:pt x="7637526" y="0"/>
                    </a:lnTo>
                    <a:cubicBezTo>
                      <a:pt x="7747508" y="0"/>
                      <a:pt x="7836789" y="89154"/>
                      <a:pt x="7836789" y="199263"/>
                    </a:cubicBezTo>
                    <a:lnTo>
                      <a:pt x="7836789" y="1419606"/>
                    </a:lnTo>
                    <a:cubicBezTo>
                      <a:pt x="7836789" y="1529588"/>
                      <a:pt x="7747635" y="1618869"/>
                      <a:pt x="7637526" y="1618869"/>
                    </a:cubicBezTo>
                    <a:lnTo>
                      <a:pt x="199263" y="1618869"/>
                    </a:lnTo>
                    <a:cubicBezTo>
                      <a:pt x="89154" y="1618869"/>
                      <a:pt x="0" y="1529588"/>
                      <a:pt x="0" y="1419606"/>
                    </a:cubicBezTo>
                    <a:close/>
                  </a:path>
                </a:pathLst>
              </a:custGeom>
              <a:solidFill>
                <a:srgbClr val="3D3D3D"/>
              </a:solidFill>
              <a:ln w="25400" cap="sq">
                <a:solidFill>
                  <a:srgbClr val="3D3D3D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8849" y="283503"/>
              <a:ext cx="2682240" cy="1051825"/>
              <a:chOff x="0" y="0"/>
              <a:chExt cx="2682240" cy="105182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682240" cy="1051825"/>
              </a:xfrm>
              <a:custGeom>
                <a:avLst/>
                <a:gdLst/>
                <a:ahLst/>
                <a:cxnLst/>
                <a:rect r="r" b="b" t="t" l="l"/>
                <a:pathLst>
                  <a:path h="1051825" w="2682240">
                    <a:moveTo>
                      <a:pt x="0" y="0"/>
                    </a:moveTo>
                    <a:lnTo>
                      <a:pt x="2682240" y="0"/>
                    </a:lnTo>
                    <a:lnTo>
                      <a:pt x="2682240" y="1051825"/>
                    </a:lnTo>
                    <a:lnTo>
                      <a:pt x="0" y="10518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118" r="0" b="9742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2682240" cy="1051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C8E6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&lt;50ms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699169" y="443655"/>
              <a:ext cx="4876800" cy="731520"/>
              <a:chOff x="0" y="0"/>
              <a:chExt cx="4876800" cy="73152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8768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9900" r="0" b="-7990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487680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Detection Latency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1783063" y="4595879"/>
            <a:ext cx="5877563" cy="1214123"/>
            <a:chOff x="0" y="0"/>
            <a:chExt cx="7836751" cy="161883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7836751" cy="1618831"/>
              <a:chOff x="0" y="0"/>
              <a:chExt cx="7836751" cy="161883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836789" cy="1618869"/>
              </a:xfrm>
              <a:custGeom>
                <a:avLst/>
                <a:gdLst/>
                <a:ahLst/>
                <a:cxnLst/>
                <a:rect r="r" b="b" t="t" l="l"/>
                <a:pathLst>
                  <a:path h="1618869" w="7836789">
                    <a:moveTo>
                      <a:pt x="0" y="199263"/>
                    </a:moveTo>
                    <a:cubicBezTo>
                      <a:pt x="0" y="89154"/>
                      <a:pt x="89154" y="0"/>
                      <a:pt x="199263" y="0"/>
                    </a:cubicBezTo>
                    <a:lnTo>
                      <a:pt x="7637526" y="0"/>
                    </a:lnTo>
                    <a:cubicBezTo>
                      <a:pt x="7747508" y="0"/>
                      <a:pt x="7836789" y="89154"/>
                      <a:pt x="7836789" y="199263"/>
                    </a:cubicBezTo>
                    <a:lnTo>
                      <a:pt x="7836789" y="1419606"/>
                    </a:lnTo>
                    <a:cubicBezTo>
                      <a:pt x="7836789" y="1529588"/>
                      <a:pt x="7747635" y="1618869"/>
                      <a:pt x="7637526" y="1618869"/>
                    </a:cubicBezTo>
                    <a:lnTo>
                      <a:pt x="199263" y="1618869"/>
                    </a:lnTo>
                    <a:cubicBezTo>
                      <a:pt x="89154" y="1618869"/>
                      <a:pt x="0" y="1529588"/>
                      <a:pt x="0" y="1419606"/>
                    </a:cubicBezTo>
                    <a:close/>
                  </a:path>
                </a:pathLst>
              </a:custGeom>
              <a:solidFill>
                <a:srgbClr val="3D3D3D"/>
              </a:solidFill>
              <a:ln w="25400" cap="sq">
                <a:solidFill>
                  <a:srgbClr val="3D3D3D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8849" y="283503"/>
              <a:ext cx="2682240" cy="1051825"/>
              <a:chOff x="0" y="0"/>
              <a:chExt cx="2682240" cy="105182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682240" cy="1051825"/>
              </a:xfrm>
              <a:custGeom>
                <a:avLst/>
                <a:gdLst/>
                <a:ahLst/>
                <a:cxnLst/>
                <a:rect r="r" b="b" t="t" l="l"/>
                <a:pathLst>
                  <a:path h="1051825" w="2682240">
                    <a:moveTo>
                      <a:pt x="0" y="0"/>
                    </a:moveTo>
                    <a:lnTo>
                      <a:pt x="2682240" y="0"/>
                    </a:lnTo>
                    <a:lnTo>
                      <a:pt x="2682240" y="1051825"/>
                    </a:lnTo>
                    <a:lnTo>
                      <a:pt x="0" y="10518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118" r="0" b="9742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2682240" cy="1051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C8E6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4-Class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2699169" y="443655"/>
              <a:ext cx="4876800" cy="731520"/>
              <a:chOff x="0" y="0"/>
              <a:chExt cx="4876800" cy="73152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8768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9900" r="0" b="-79900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487680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AI Classifier</a:t>
                </a: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11783063" y="6095495"/>
            <a:ext cx="5877563" cy="1214123"/>
            <a:chOff x="0" y="0"/>
            <a:chExt cx="7836751" cy="1618831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7836751" cy="1618831"/>
              <a:chOff x="0" y="0"/>
              <a:chExt cx="7836751" cy="161883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836789" cy="1618869"/>
              </a:xfrm>
              <a:custGeom>
                <a:avLst/>
                <a:gdLst/>
                <a:ahLst/>
                <a:cxnLst/>
                <a:rect r="r" b="b" t="t" l="l"/>
                <a:pathLst>
                  <a:path h="1618869" w="7836789">
                    <a:moveTo>
                      <a:pt x="0" y="199263"/>
                    </a:moveTo>
                    <a:cubicBezTo>
                      <a:pt x="0" y="89154"/>
                      <a:pt x="89154" y="0"/>
                      <a:pt x="199263" y="0"/>
                    </a:cubicBezTo>
                    <a:lnTo>
                      <a:pt x="7637526" y="0"/>
                    </a:lnTo>
                    <a:cubicBezTo>
                      <a:pt x="7747508" y="0"/>
                      <a:pt x="7836789" y="89154"/>
                      <a:pt x="7836789" y="199263"/>
                    </a:cubicBezTo>
                    <a:lnTo>
                      <a:pt x="7836789" y="1419606"/>
                    </a:lnTo>
                    <a:cubicBezTo>
                      <a:pt x="7836789" y="1529588"/>
                      <a:pt x="7747635" y="1618869"/>
                      <a:pt x="7637526" y="1618869"/>
                    </a:cubicBezTo>
                    <a:lnTo>
                      <a:pt x="199263" y="1618869"/>
                    </a:lnTo>
                    <a:cubicBezTo>
                      <a:pt x="89154" y="1618869"/>
                      <a:pt x="0" y="1529588"/>
                      <a:pt x="0" y="1419606"/>
                    </a:cubicBezTo>
                    <a:close/>
                  </a:path>
                </a:pathLst>
              </a:custGeom>
              <a:solidFill>
                <a:srgbClr val="3D3D3D"/>
              </a:solidFill>
              <a:ln w="25400" cap="sq">
                <a:solidFill>
                  <a:srgbClr val="3D3D3D"/>
                </a:solidFill>
                <a:prstDash val="solid"/>
                <a:miter/>
              </a:ln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38849" y="283503"/>
              <a:ext cx="2682240" cy="1051825"/>
              <a:chOff x="0" y="0"/>
              <a:chExt cx="2682240" cy="1051825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682240" cy="1051825"/>
              </a:xfrm>
              <a:custGeom>
                <a:avLst/>
                <a:gdLst/>
                <a:ahLst/>
                <a:cxnLst/>
                <a:rect r="r" b="b" t="t" l="l"/>
                <a:pathLst>
                  <a:path h="1051825" w="2682240">
                    <a:moveTo>
                      <a:pt x="0" y="0"/>
                    </a:moveTo>
                    <a:lnTo>
                      <a:pt x="2682240" y="0"/>
                    </a:lnTo>
                    <a:lnTo>
                      <a:pt x="2682240" y="1051825"/>
                    </a:lnTo>
                    <a:lnTo>
                      <a:pt x="0" y="10518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118" r="0" b="9742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2682240" cy="10518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C8E6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50Hz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2699169" y="443655"/>
              <a:ext cx="4876800" cy="731520"/>
              <a:chOff x="0" y="0"/>
              <a:chExt cx="4876800" cy="73152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48768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9900" r="0" b="-79900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0"/>
                <a:ext cx="4876800" cy="7315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Sample Rate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1430000" y="8375904"/>
            <a:ext cx="6583680" cy="822960"/>
            <a:chOff x="0" y="0"/>
            <a:chExt cx="877824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8778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PREVENTING MSDs AT THE EDGE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2816197"/>
            <a:ext cx="10607040" cy="2291746"/>
            <a:chOff x="0" y="0"/>
            <a:chExt cx="14142720" cy="305566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142720" cy="3055662"/>
            </a:xfrm>
            <a:custGeom>
              <a:avLst/>
              <a:gdLst/>
              <a:ahLst/>
              <a:cxnLst/>
              <a:rect r="r" b="b" t="t" l="l"/>
              <a:pathLst>
                <a:path h="305566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055662"/>
                  </a:lnTo>
                  <a:lnTo>
                    <a:pt x="0" y="30556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04" r="5172" b="-194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4142720" cy="3055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1599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INDUSTRIAL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945643"/>
            <a:chOff x="0" y="0"/>
            <a:chExt cx="24417871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594229"/>
            </a:xfrm>
            <a:custGeom>
              <a:avLst/>
              <a:gdLst/>
              <a:ahLst/>
              <a:cxnLst/>
              <a:rect r="r" b="b" t="t" l="l"/>
              <a:pathLst>
                <a:path h="25942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1230353"/>
            <a:chOff x="0" y="0"/>
            <a:chExt cx="21945600" cy="1640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0471"/>
            </a:xfrm>
            <a:custGeom>
              <a:avLst/>
              <a:gdLst/>
              <a:ahLst/>
              <a:cxnLst/>
              <a:rect r="r" b="b" t="t" l="l"/>
              <a:pathLst>
                <a:path h="164047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071" r="0" b="-2052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1199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2273303"/>
            <a:ext cx="5603243" cy="5511803"/>
            <a:chOff x="0" y="0"/>
            <a:chExt cx="7470991" cy="7349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10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7471028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226046" y="0"/>
                  </a:lnTo>
                  <a:cubicBezTo>
                    <a:pt x="7361301" y="0"/>
                    <a:pt x="7471028" y="109728"/>
                    <a:pt x="7471028" y="244983"/>
                  </a:cubicBezTo>
                  <a:lnTo>
                    <a:pt x="7471028" y="7104126"/>
                  </a:lnTo>
                  <a:cubicBezTo>
                    <a:pt x="7471028" y="7239381"/>
                    <a:pt x="7361301" y="7349109"/>
                    <a:pt x="7226046" y="7349109"/>
                  </a:cubicBezTo>
                  <a:lnTo>
                    <a:pt x="244983" y="7349109"/>
                  </a:lnTo>
                  <a:cubicBezTo>
                    <a:pt x="109728" y="7349109"/>
                    <a:pt x="0" y="7239381"/>
                    <a:pt x="0" y="7104126"/>
                  </a:cubicBezTo>
                  <a:close/>
                </a:path>
              </a:pathLst>
            </a:custGeom>
            <a:solidFill>
              <a:srgbClr val="2A2A2A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596896"/>
            <a:ext cx="877824" cy="877824"/>
            <a:chOff x="0" y="0"/>
            <a:chExt cx="1170432" cy="117043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0"/>
            <a:ext cx="5029200" cy="1280160"/>
            <a:chOff x="0" y="0"/>
            <a:chExt cx="670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7056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MUSCULOSKELETAL</a:t>
              </a:r>
            </a:p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DISORDERS (MSDs)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4974336"/>
            <a:ext cx="5029200" cy="2560320"/>
            <a:chOff x="0" y="0"/>
            <a:chExt cx="670560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70560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 in 3 female factory workers suffers a work-related MSD annually. Improper lifting and prolonged awkward postures cause irreversible spinal damage.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24679" y="2273303"/>
            <a:ext cx="5603243" cy="5511803"/>
            <a:chOff x="0" y="0"/>
            <a:chExt cx="7470991" cy="73490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710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7471028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226046" y="0"/>
                  </a:lnTo>
                  <a:cubicBezTo>
                    <a:pt x="7361301" y="0"/>
                    <a:pt x="7471028" y="109728"/>
                    <a:pt x="7471028" y="244983"/>
                  </a:cubicBezTo>
                  <a:lnTo>
                    <a:pt x="7471028" y="7104126"/>
                  </a:lnTo>
                  <a:cubicBezTo>
                    <a:pt x="7471028" y="7239381"/>
                    <a:pt x="7361301" y="7349109"/>
                    <a:pt x="7226046" y="7349109"/>
                  </a:cubicBezTo>
                  <a:lnTo>
                    <a:pt x="244983" y="7349109"/>
                  </a:lnTo>
                  <a:cubicBezTo>
                    <a:pt x="109728" y="7349109"/>
                    <a:pt x="0" y="7239381"/>
                    <a:pt x="0" y="7104126"/>
                  </a:cubicBezTo>
                  <a:close/>
                </a:path>
              </a:pathLst>
            </a:custGeom>
            <a:solidFill>
              <a:srgbClr val="2A2A2A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03136" y="2596896"/>
            <a:ext cx="877824" cy="877824"/>
            <a:chOff x="0" y="0"/>
            <a:chExt cx="1170432" cy="117043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11696" y="3657600"/>
            <a:ext cx="5029200" cy="1280160"/>
            <a:chOff x="0" y="0"/>
            <a:chExt cx="670560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7056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HEAVY MACHINERY</a:t>
              </a:r>
            </a:p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VIBRATION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11696" y="4974336"/>
            <a:ext cx="5029200" cy="2560320"/>
            <a:chOff x="0" y="0"/>
            <a:chExt cx="670560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70560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Whole-body vibration (4–8 Hz) from industrial equipment exceeds ISO 2631-1 daily limits in 68% of female operator roles, causing chronic back pathology.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13415" y="2273303"/>
            <a:ext cx="5603243" cy="5511803"/>
            <a:chOff x="0" y="0"/>
            <a:chExt cx="7470991" cy="7349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710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7471028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7226046" y="0"/>
                  </a:lnTo>
                  <a:cubicBezTo>
                    <a:pt x="7361301" y="0"/>
                    <a:pt x="7471028" y="109728"/>
                    <a:pt x="7471028" y="244983"/>
                  </a:cubicBezTo>
                  <a:lnTo>
                    <a:pt x="7471028" y="7104126"/>
                  </a:lnTo>
                  <a:cubicBezTo>
                    <a:pt x="7471028" y="7239381"/>
                    <a:pt x="7361301" y="7349109"/>
                    <a:pt x="7226046" y="7349109"/>
                  </a:cubicBezTo>
                  <a:lnTo>
                    <a:pt x="244983" y="7349109"/>
                  </a:lnTo>
                  <a:cubicBezTo>
                    <a:pt x="109728" y="7349109"/>
                    <a:pt x="0" y="7239381"/>
                    <a:pt x="0" y="7104126"/>
                  </a:cubicBezTo>
                  <a:close/>
                </a:path>
              </a:pathLst>
            </a:custGeom>
            <a:solidFill>
              <a:srgbClr val="2A2A2A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691872" y="2596896"/>
            <a:ext cx="877824" cy="877824"/>
            <a:chOff x="0" y="0"/>
            <a:chExt cx="1170432" cy="117043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00432" y="3657600"/>
            <a:ext cx="5029200" cy="1280160"/>
            <a:chOff x="0" y="0"/>
            <a:chExt cx="670560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0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7056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IGNORED FEMALE</a:t>
              </a:r>
            </a:p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ERGONOMICS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00432" y="4974336"/>
            <a:ext cx="5029200" cy="2560320"/>
            <a:chOff x="0" y="0"/>
            <a:chExt cx="6705600" cy="3413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0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t="0" r="-1531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70560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95% of industrial safety tools are calibrated on male biomechanical baselines. Female workers have different CoG and lower load capacity — a critical safety gap.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-12697" y="8125463"/>
            <a:ext cx="18313403" cy="2174243"/>
            <a:chOff x="0" y="0"/>
            <a:chExt cx="24417871" cy="2898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417910" cy="2899029"/>
            </a:xfrm>
            <a:custGeom>
              <a:avLst/>
              <a:gdLst/>
              <a:ahLst/>
              <a:cxnLst/>
              <a:rect r="r" b="b" t="t" l="l"/>
              <a:pathLst>
                <a:path h="28990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899029"/>
                  </a:lnTo>
                  <a:lnTo>
                    <a:pt x="0" y="2899029"/>
                  </a:ln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48645" y="8451856"/>
            <a:ext cx="5486400" cy="1353312"/>
            <a:chOff x="0" y="0"/>
            <a:chExt cx="7315200" cy="180441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7315200" cy="1527762"/>
              <a:chOff x="0" y="0"/>
              <a:chExt cx="7315200" cy="152776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315200" cy="1527762"/>
              </a:xfrm>
              <a:custGeom>
                <a:avLst/>
                <a:gdLst/>
                <a:ahLst/>
                <a:cxnLst/>
                <a:rect r="r" b="b" t="t" l="l"/>
                <a:pathLst>
                  <a:path h="152776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527762"/>
                    </a:lnTo>
                    <a:lnTo>
                      <a:pt x="0" y="152776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800" r="0" b="-34795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7315200" cy="15277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rPr lang="en-US" sz="5200" b="true">
                    <a:solidFill>
                      <a:srgbClr val="141414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$22.4B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121664"/>
              <a:ext cx="7315200" cy="682752"/>
              <a:chOff x="0" y="0"/>
              <a:chExt cx="7315200" cy="68275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31520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8768" r="0" b="-158768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7315200" cy="6827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1414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Global Ergonomics Market (2030)</a:t>
                </a: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6483101" y="8451856"/>
            <a:ext cx="5486400" cy="1353312"/>
            <a:chOff x="0" y="0"/>
            <a:chExt cx="7315200" cy="1804416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7315200" cy="1527762"/>
              <a:chOff x="0" y="0"/>
              <a:chExt cx="7315200" cy="152776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315200" cy="1527762"/>
              </a:xfrm>
              <a:custGeom>
                <a:avLst/>
                <a:gdLst/>
                <a:ahLst/>
                <a:cxnLst/>
                <a:rect r="r" b="b" t="t" l="l"/>
                <a:pathLst>
                  <a:path h="152776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527762"/>
                    </a:lnTo>
                    <a:lnTo>
                      <a:pt x="0" y="152776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800" r="0" b="-34795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0"/>
                <a:ext cx="7315200" cy="15277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rPr lang="en-US" sz="5200" b="true">
                    <a:solidFill>
                      <a:srgbClr val="141414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600M+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1121664"/>
              <a:ext cx="7315200" cy="682752"/>
              <a:chOff x="0" y="0"/>
              <a:chExt cx="7315200" cy="68275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31520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8768" r="0" b="-158768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0"/>
                <a:ext cx="7315200" cy="6827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1414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Female Industrial Workers Worldwide</a:t>
                </a: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12417557" y="8451856"/>
            <a:ext cx="5486400" cy="1353312"/>
            <a:chOff x="0" y="0"/>
            <a:chExt cx="7315200" cy="1804416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7315200" cy="1527762"/>
              <a:chOff x="0" y="0"/>
              <a:chExt cx="7315200" cy="1527762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7315200" cy="1527762"/>
              </a:xfrm>
              <a:custGeom>
                <a:avLst/>
                <a:gdLst/>
                <a:ahLst/>
                <a:cxnLst/>
                <a:rect r="r" b="b" t="t" l="l"/>
                <a:pathLst>
                  <a:path h="152776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527762"/>
                    </a:lnTo>
                    <a:lnTo>
                      <a:pt x="0" y="152776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800" r="0" b="-34795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0"/>
                <a:ext cx="7315200" cy="15277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40"/>
                  </a:lnSpc>
                </a:pPr>
                <a:r>
                  <a:rPr lang="en-US" sz="5200" b="true">
                    <a:solidFill>
                      <a:srgbClr val="141414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34%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1121664"/>
              <a:ext cx="7315200" cy="682752"/>
              <a:chOff x="0" y="0"/>
              <a:chExt cx="731520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731520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8768" r="0" b="-158768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0"/>
                <a:ext cx="7315200" cy="68275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141414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of all Workplace Injuries are MSDs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7706363" cy="10312403"/>
            <a:chOff x="0" y="0"/>
            <a:chExt cx="102751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7518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7706363" cy="244859"/>
            <a:chOff x="0" y="0"/>
            <a:chExt cx="10275151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75189" cy="326517"/>
            </a:xfrm>
            <a:custGeom>
              <a:avLst/>
              <a:gdLst/>
              <a:ahLst/>
              <a:cxnLst/>
              <a:rect r="r" b="b" t="t" l="l"/>
              <a:pathLst>
                <a:path h="32651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731520"/>
            <a:ext cx="6583680" cy="2377440"/>
            <a:chOff x="0" y="0"/>
            <a:chExt cx="8778240" cy="3169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782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8" r="0" b="-39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77824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OBJECTIVE</a:t>
              </a:r>
            </a:p>
            <a:p>
              <a:pPr algn="l">
                <a:lnSpc>
                  <a:spcPts val="7200"/>
                </a:lnSpc>
              </a:pPr>
              <a:r>
                <a:rPr lang="en-US" b="true" sz="6000" spc="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&amp; APPROACH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080" y="3383280"/>
            <a:ext cx="6492240" cy="2560320"/>
            <a:chOff x="0" y="0"/>
            <a:chExt cx="865632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563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" t="0" r="-59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656320" cy="3404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4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Build an edge-AI wearable that detects ergonomic hazards in real-time, calibrated specifically for female industrial workers using REBA/RULA frameworks.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5943" y="6113783"/>
            <a:ext cx="6609083" cy="976379"/>
            <a:chOff x="0" y="0"/>
            <a:chExt cx="8812111" cy="13018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121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6254501"/>
            <a:ext cx="2560320" cy="694944"/>
            <a:chOff x="0" y="0"/>
            <a:chExt cx="341376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413760" cy="91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&lt; 50ms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00400" y="6327653"/>
            <a:ext cx="3657600" cy="548640"/>
            <a:chOff x="0" y="0"/>
            <a:chExt cx="4876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8768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end-to-end latency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7357367"/>
            <a:ext cx="6609083" cy="976379"/>
            <a:chOff x="0" y="0"/>
            <a:chExt cx="8812111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121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4944" y="7498085"/>
            <a:ext cx="2560320" cy="694944"/>
            <a:chOff x="0" y="0"/>
            <a:chExt cx="341376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3413760" cy="91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Zero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00400" y="7571237"/>
            <a:ext cx="3657600" cy="548640"/>
            <a:chOff x="0" y="0"/>
            <a:chExt cx="48768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8768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cloud dependency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5943" y="8600951"/>
            <a:ext cx="6609083" cy="976379"/>
            <a:chOff x="0" y="0"/>
            <a:chExt cx="8812111" cy="1301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121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66331" y="8741669"/>
            <a:ext cx="2560320" cy="694944"/>
            <a:chOff x="0" y="0"/>
            <a:chExt cx="341376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3413760" cy="91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REBA/RULA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357039" y="8814821"/>
            <a:ext cx="3657600" cy="548640"/>
            <a:chOff x="0" y="0"/>
            <a:chExt cx="48768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87680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female-calibrated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34023" y="755399"/>
            <a:ext cx="1031243" cy="1031243"/>
            <a:chOff x="0" y="0"/>
            <a:chExt cx="1374991" cy="1374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046720" y="768096"/>
            <a:ext cx="1005840" cy="1005840"/>
            <a:chOff x="0" y="0"/>
            <a:chExt cx="134112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804672"/>
            <a:ext cx="8229600" cy="662175"/>
            <a:chOff x="0" y="0"/>
            <a:chExt cx="10972800" cy="8829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882900"/>
            </a:xfrm>
            <a:custGeom>
              <a:avLst/>
              <a:gdLst/>
              <a:ahLst/>
              <a:cxnLst/>
              <a:rect r="r" b="b" t="t" l="l"/>
              <a:pathLst>
                <a:path h="8829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82900"/>
                  </a:lnTo>
                  <a:lnTo>
                    <a:pt x="0" y="88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50" r="0" b="-1918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972800" cy="89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6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SENSE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1463040"/>
            <a:ext cx="8229600" cy="1188720"/>
            <a:chOff x="0" y="0"/>
            <a:chExt cx="1097280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09728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MPU-6050 6-axis IMU captures Ax, Ay, Az, Gx, Gy, Gz at 50 Hz on-wrist/vest.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436359" y="1816103"/>
            <a:ext cx="135131" cy="1214123"/>
            <a:chOff x="0" y="0"/>
            <a:chExt cx="180175" cy="1618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0213" cy="1618869"/>
            </a:xfrm>
            <a:custGeom>
              <a:avLst/>
              <a:gdLst/>
              <a:ahLst/>
              <a:cxnLst/>
              <a:rect r="r" b="b" t="t" l="l"/>
              <a:pathLst>
                <a:path h="16188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034023" y="3132839"/>
            <a:ext cx="1031243" cy="1031243"/>
            <a:chOff x="0" y="0"/>
            <a:chExt cx="137499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8046720" y="3145536"/>
            <a:ext cx="1005840" cy="1005840"/>
            <a:chOff x="0" y="0"/>
            <a:chExt cx="134112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26880" y="3182112"/>
            <a:ext cx="8229600" cy="662175"/>
            <a:chOff x="0" y="0"/>
            <a:chExt cx="10972800" cy="8829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882900"/>
            </a:xfrm>
            <a:custGeom>
              <a:avLst/>
              <a:gdLst/>
              <a:ahLst/>
              <a:cxnLst/>
              <a:rect r="r" b="b" t="t" l="l"/>
              <a:pathLst>
                <a:path h="8829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82900"/>
                  </a:lnTo>
                  <a:lnTo>
                    <a:pt x="0" y="88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50" r="0" b="-19187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972800" cy="89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6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COMPUTE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26880" y="3840480"/>
            <a:ext cx="8229600" cy="1188720"/>
            <a:chOff x="0" y="0"/>
            <a:chExt cx="10972800" cy="158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9728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ESP32 runs a TFLite Micro 4-class classifier (or geometric decision matrix in PoC) in &lt;8ms.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436359" y="4193543"/>
            <a:ext cx="135131" cy="1214123"/>
            <a:chOff x="0" y="0"/>
            <a:chExt cx="180175" cy="16188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213" cy="1618869"/>
            </a:xfrm>
            <a:custGeom>
              <a:avLst/>
              <a:gdLst/>
              <a:ahLst/>
              <a:cxnLst/>
              <a:rect r="r" b="b" t="t" l="l"/>
              <a:pathLst>
                <a:path h="16188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034023" y="5510279"/>
            <a:ext cx="1031243" cy="1031243"/>
            <a:chOff x="0" y="0"/>
            <a:chExt cx="1374991" cy="13749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046720" y="5522976"/>
            <a:ext cx="1005840" cy="1005840"/>
            <a:chOff x="0" y="0"/>
            <a:chExt cx="1341120" cy="13411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26880" y="5559552"/>
            <a:ext cx="8229600" cy="662175"/>
            <a:chOff x="0" y="0"/>
            <a:chExt cx="10972800" cy="8829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882900"/>
            </a:xfrm>
            <a:custGeom>
              <a:avLst/>
              <a:gdLst/>
              <a:ahLst/>
              <a:cxnLst/>
              <a:rect r="r" b="b" t="t" l="l"/>
              <a:pathLst>
                <a:path h="8829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82900"/>
                  </a:lnTo>
                  <a:lnTo>
                    <a:pt x="0" y="88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50" r="0" b="-19187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0972800" cy="89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6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CLASSIFY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26880" y="6217920"/>
            <a:ext cx="8229600" cy="1188720"/>
            <a:chOff x="0" y="0"/>
            <a:chExt cx="10972800" cy="1584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109728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Posture evaluated against female REBA thresholds: Safe, Unsafe Lift, Awkward Twist, Vibration Hazard.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436359" y="6570983"/>
            <a:ext cx="135131" cy="1214123"/>
            <a:chOff x="0" y="0"/>
            <a:chExt cx="180175" cy="16188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0213" cy="1618869"/>
            </a:xfrm>
            <a:custGeom>
              <a:avLst/>
              <a:gdLst/>
              <a:ahLst/>
              <a:cxnLst/>
              <a:rect r="r" b="b" t="t" l="l"/>
              <a:pathLst>
                <a:path h="16188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034023" y="7887719"/>
            <a:ext cx="1031243" cy="1031243"/>
            <a:chOff x="0" y="0"/>
            <a:chExt cx="1374991" cy="13749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046720" y="7900416"/>
            <a:ext cx="1005840" cy="1005840"/>
            <a:chOff x="0" y="0"/>
            <a:chExt cx="1341120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6880" y="7936992"/>
            <a:ext cx="8229600" cy="662175"/>
            <a:chOff x="0" y="0"/>
            <a:chExt cx="10972800" cy="8829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882900"/>
            </a:xfrm>
            <a:custGeom>
              <a:avLst/>
              <a:gdLst/>
              <a:ahLst/>
              <a:cxnLst/>
              <a:rect r="r" b="b" t="t" l="l"/>
              <a:pathLst>
                <a:path h="8829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82900"/>
                  </a:lnTo>
                  <a:lnTo>
                    <a:pt x="0" y="88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50" r="0" b="-19187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10972800" cy="89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6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ALERT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26880" y="8595360"/>
            <a:ext cx="8229600" cy="1188720"/>
            <a:chOff x="0" y="0"/>
            <a:chExt cx="10972800" cy="15849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109728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Distinct haptic vibration patterns fire on GPIO 25 within the 50ms SLA — zero cloud latency.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1493309"/>
            <a:chOff x="0" y="0"/>
            <a:chExt cx="21945600" cy="19910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91079"/>
            </a:xfrm>
            <a:custGeom>
              <a:avLst/>
              <a:gdLst/>
              <a:ahLst/>
              <a:cxnLst/>
              <a:rect r="r" b="b" t="t" l="l"/>
              <a:pathLst>
                <a:path h="19910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91079"/>
                  </a:lnTo>
                  <a:lnTo>
                    <a:pt x="0" y="19910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675" r="0" b="-1588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991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b="true" sz="6800" spc="1400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SOLUTION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82496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2A2A2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FemFit-Industrial Smart Safety Vest — Three Integrated Layers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2584199"/>
            <a:ext cx="5603243" cy="7249163"/>
            <a:chOff x="0" y="0"/>
            <a:chExt cx="7470991" cy="9665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0902" cy="9665462"/>
            </a:xfrm>
            <a:custGeom>
              <a:avLst/>
              <a:gdLst/>
              <a:ahLst/>
              <a:cxnLst/>
              <a:rect r="r" b="b" t="t" l="l"/>
              <a:pathLst>
                <a:path h="9665462" w="7470902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7177024" y="0"/>
                  </a:lnTo>
                  <a:cubicBezTo>
                    <a:pt x="7339330" y="0"/>
                    <a:pt x="7470902" y="131572"/>
                    <a:pt x="7470902" y="293878"/>
                  </a:cubicBezTo>
                  <a:lnTo>
                    <a:pt x="7470902" y="9371584"/>
                  </a:lnTo>
                  <a:cubicBezTo>
                    <a:pt x="7470902" y="9533890"/>
                    <a:pt x="7339330" y="9665462"/>
                    <a:pt x="7177024" y="9665462"/>
                  </a:cubicBezTo>
                  <a:lnTo>
                    <a:pt x="293878" y="9665462"/>
                  </a:lnTo>
                  <a:cubicBezTo>
                    <a:pt x="131572" y="9665589"/>
                    <a:pt x="0" y="9534017"/>
                    <a:pt x="0" y="9371584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77824" y="2926080"/>
            <a:ext cx="950976" cy="950976"/>
            <a:chOff x="0" y="0"/>
            <a:chExt cx="1267968" cy="126796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6384" y="4059936"/>
            <a:ext cx="5084064" cy="1316736"/>
            <a:chOff x="0" y="0"/>
            <a:chExt cx="6778752" cy="1755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87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33" r="0" b="-252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778752" cy="1755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</a:t>
              </a:r>
            </a:p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LAYER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1248" y="5431536"/>
            <a:ext cx="5029200" cy="603504"/>
            <a:chOff x="0" y="0"/>
            <a:chExt cx="6705600" cy="80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ESP32 / Arduino Nano 33 BLE Sense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1248" y="6089904"/>
            <a:ext cx="5029200" cy="603504"/>
            <a:chOff x="0" y="0"/>
            <a:chExt cx="6705600" cy="8046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MPU-6050 6-axis IMU (I²C @ 400kHz)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1248" y="6748272"/>
            <a:ext cx="5029200" cy="603504"/>
            <a:chOff x="0" y="0"/>
            <a:chExt cx="6705600" cy="80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LRA Haptic Motor via N-MOSFET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1248" y="7406640"/>
            <a:ext cx="5029200" cy="603504"/>
            <a:chOff x="0" y="0"/>
            <a:chExt cx="6705600" cy="80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3.7V LiPo — 12hr shift battery life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1248" y="8065008"/>
            <a:ext cx="5029200" cy="603504"/>
            <a:chOff x="0" y="0"/>
            <a:chExt cx="6705600" cy="8046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Sewn-in conductive vest housing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51527" y="2584199"/>
            <a:ext cx="5603243" cy="7249163"/>
            <a:chOff x="0" y="0"/>
            <a:chExt cx="7470991" cy="96655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70902" cy="9665462"/>
            </a:xfrm>
            <a:custGeom>
              <a:avLst/>
              <a:gdLst/>
              <a:ahLst/>
              <a:cxnLst/>
              <a:rect r="r" b="b" t="t" l="l"/>
              <a:pathLst>
                <a:path h="9665462" w="7470902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7177024" y="0"/>
                  </a:lnTo>
                  <a:cubicBezTo>
                    <a:pt x="7339330" y="0"/>
                    <a:pt x="7470902" y="131572"/>
                    <a:pt x="7470902" y="293878"/>
                  </a:cubicBezTo>
                  <a:lnTo>
                    <a:pt x="7470902" y="9371584"/>
                  </a:lnTo>
                  <a:cubicBezTo>
                    <a:pt x="7470902" y="9533890"/>
                    <a:pt x="7339330" y="9665462"/>
                    <a:pt x="7177024" y="9665462"/>
                  </a:cubicBezTo>
                  <a:lnTo>
                    <a:pt x="293878" y="9665462"/>
                  </a:lnTo>
                  <a:cubicBezTo>
                    <a:pt x="131572" y="9665589"/>
                    <a:pt x="0" y="9534017"/>
                    <a:pt x="0" y="9371584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729984" y="2926080"/>
            <a:ext cx="950976" cy="950976"/>
            <a:chOff x="0" y="0"/>
            <a:chExt cx="1267968" cy="1267968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38544" y="4059936"/>
            <a:ext cx="5084064" cy="1316736"/>
            <a:chOff x="0" y="0"/>
            <a:chExt cx="6778752" cy="17556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787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33" r="0" b="-252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778752" cy="1755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INTELLIGENCE</a:t>
              </a:r>
            </a:p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LAYER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93408" y="5431536"/>
            <a:ext cx="5029200" cy="603504"/>
            <a:chOff x="0" y="0"/>
            <a:chExt cx="6705600" cy="804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TFLite Micro 4-class classifier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93408" y="6089904"/>
            <a:ext cx="5029200" cy="603504"/>
            <a:chOff x="0" y="0"/>
            <a:chExt cx="6705600" cy="80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REBA/RULA female threshold matrix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93408" y="6748272"/>
            <a:ext cx="5029200" cy="603504"/>
            <a:chOff x="0" y="0"/>
            <a:chExt cx="670560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50Hz rolling feature windows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693408" y="7406640"/>
            <a:ext cx="5029200" cy="686794"/>
            <a:chOff x="0" y="0"/>
            <a:chExt cx="6705600" cy="9157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05600" cy="915726"/>
            </a:xfrm>
            <a:custGeom>
              <a:avLst/>
              <a:gdLst/>
              <a:ahLst/>
              <a:cxnLst/>
              <a:rect r="r" b="b" t="t" l="l"/>
              <a:pathLst>
                <a:path h="9157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15726"/>
                  </a:lnTo>
                  <a:lnTo>
                    <a:pt x="0" y="915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47" r="0" b="-8661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705600" cy="915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Debounce: 5× consecutive confirmation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693408" y="8065008"/>
            <a:ext cx="5029200" cy="603504"/>
            <a:chOff x="0" y="0"/>
            <a:chExt cx="6705600" cy="8046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Int8 quantized — 4ms inference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03687" y="2584199"/>
            <a:ext cx="5603243" cy="7249163"/>
            <a:chOff x="0" y="0"/>
            <a:chExt cx="7470991" cy="96655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70902" cy="9665462"/>
            </a:xfrm>
            <a:custGeom>
              <a:avLst/>
              <a:gdLst/>
              <a:ahLst/>
              <a:cxnLst/>
              <a:rect r="r" b="b" t="t" l="l"/>
              <a:pathLst>
                <a:path h="9665462" w="7470902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7177024" y="0"/>
                  </a:lnTo>
                  <a:cubicBezTo>
                    <a:pt x="7339330" y="0"/>
                    <a:pt x="7470902" y="131572"/>
                    <a:pt x="7470902" y="293878"/>
                  </a:cubicBezTo>
                  <a:lnTo>
                    <a:pt x="7470902" y="9371584"/>
                  </a:lnTo>
                  <a:cubicBezTo>
                    <a:pt x="7470902" y="9533890"/>
                    <a:pt x="7339330" y="9665462"/>
                    <a:pt x="7177024" y="9665462"/>
                  </a:cubicBezTo>
                  <a:lnTo>
                    <a:pt x="293878" y="9665462"/>
                  </a:lnTo>
                  <a:cubicBezTo>
                    <a:pt x="131572" y="9665589"/>
                    <a:pt x="0" y="9534017"/>
                    <a:pt x="0" y="9371584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582144" y="2926080"/>
            <a:ext cx="950976" cy="950976"/>
            <a:chOff x="0" y="0"/>
            <a:chExt cx="1267968" cy="1267968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90704" y="4059936"/>
            <a:ext cx="5084064" cy="1316736"/>
            <a:chOff x="0" y="0"/>
            <a:chExt cx="6778752" cy="17556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787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33" r="0" b="-2523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778752" cy="1755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FEEDBACK</a:t>
              </a:r>
            </a:p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LAYER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45568" y="5431536"/>
            <a:ext cx="5029200" cy="603504"/>
            <a:chOff x="0" y="0"/>
            <a:chExt cx="6705600" cy="8046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3× short pulses → Posture Fix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545568" y="6089904"/>
            <a:ext cx="5029200" cy="603504"/>
            <a:chOff x="0" y="0"/>
            <a:chExt cx="6705600" cy="804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2× medium pulses → Twist Warning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45568" y="6748272"/>
            <a:ext cx="5029200" cy="603504"/>
            <a:chOff x="0" y="0"/>
            <a:chExt cx="670560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1× sustained buzz → Vibration SOS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545568" y="7406640"/>
            <a:ext cx="5029200" cy="603504"/>
            <a:chOff x="0" y="0"/>
            <a:chExt cx="6705600" cy="804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&lt; 25ms total detection → alert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545568" y="8065008"/>
            <a:ext cx="5029200" cy="603504"/>
            <a:chOff x="0" y="0"/>
            <a:chExt cx="6705600" cy="8046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705600" cy="804672"/>
            </a:xfrm>
            <a:custGeom>
              <a:avLst/>
              <a:gdLst/>
              <a:ahLst/>
              <a:cxnLst/>
              <a:rect r="r" b="b" t="t" l="l"/>
              <a:pathLst>
                <a:path h="80467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67056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▸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BLE-ready for supervisor dashboard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324349"/>
            <a:chOff x="0" y="0"/>
            <a:chExt cx="21945600" cy="176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765799"/>
            </a:xfrm>
            <a:custGeom>
              <a:avLst/>
              <a:gdLst/>
              <a:ahLst/>
              <a:cxnLst/>
              <a:rect r="r" b="b" t="t" l="l"/>
              <a:pathLst>
                <a:path h="176579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65799"/>
                  </a:lnTo>
                  <a:lnTo>
                    <a:pt x="0" y="1765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354" r="0" b="-1849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775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12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MAKES IT NOVEL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99616"/>
            <a:ext cx="16459200" cy="839379"/>
            <a:chOff x="0" y="0"/>
            <a:chExt cx="21945600" cy="1119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119172"/>
            </a:xfrm>
            <a:custGeom>
              <a:avLst/>
              <a:gdLst/>
              <a:ahLst/>
              <a:cxnLst/>
              <a:rect r="r" b="b" t="t" l="l"/>
              <a:pathLst>
                <a:path h="11191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19172"/>
                  </a:lnTo>
                  <a:lnTo>
                    <a:pt x="0" y="1119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949" r="0" b="-3202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945600" cy="110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8E6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FemFit-Industrial is the first ergonomic safety wearable built from the ground up on female biomechanical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511047"/>
            <a:ext cx="8346443" cy="3225803"/>
            <a:chOff x="0" y="0"/>
            <a:chExt cx="11128591" cy="4301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28628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128628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882884" y="0"/>
                  </a:lnTo>
                  <a:cubicBezTo>
                    <a:pt x="11018647" y="0"/>
                    <a:pt x="11128628" y="109982"/>
                    <a:pt x="11128628" y="245745"/>
                  </a:cubicBezTo>
                  <a:lnTo>
                    <a:pt x="11128628" y="4055364"/>
                  </a:lnTo>
                  <a:cubicBezTo>
                    <a:pt x="11128628" y="4191127"/>
                    <a:pt x="11018647" y="4301109"/>
                    <a:pt x="1088288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52928"/>
            <a:ext cx="804672" cy="804672"/>
            <a:chOff x="0" y="0"/>
            <a:chExt cx="1072896" cy="107289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75104" y="2852928"/>
            <a:ext cx="6583680" cy="768096"/>
            <a:chOff x="0" y="0"/>
            <a:chExt cx="877824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FEMALE-FIRST ERGONOMICS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767328"/>
            <a:ext cx="7717536" cy="1792224"/>
            <a:chOff x="0" y="0"/>
            <a:chExt cx="10290048" cy="23896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90048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4" r="0" b="-339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290048" cy="2389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Thresholds derived from REBA/RULA studies accounting for female CoG differences, lower average upper-body load capacity, and menstrual cycle fatigue factors (Straker et al., 2009).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7063" y="2511047"/>
            <a:ext cx="8346443" cy="3225803"/>
            <a:chOff x="0" y="0"/>
            <a:chExt cx="11128591" cy="4301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28628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128628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882884" y="0"/>
                  </a:lnTo>
                  <a:cubicBezTo>
                    <a:pt x="11018647" y="0"/>
                    <a:pt x="11128628" y="109982"/>
                    <a:pt x="11128628" y="245745"/>
                  </a:cubicBezTo>
                  <a:lnTo>
                    <a:pt x="11128628" y="4055364"/>
                  </a:lnTo>
                  <a:cubicBezTo>
                    <a:pt x="11128628" y="4191127"/>
                    <a:pt x="11018647" y="4301109"/>
                    <a:pt x="1088288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2852928"/>
            <a:ext cx="804672" cy="804672"/>
            <a:chOff x="0" y="0"/>
            <a:chExt cx="1072896" cy="107289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36224" y="2852928"/>
            <a:ext cx="6583680" cy="768096"/>
            <a:chOff x="0" y="0"/>
            <a:chExt cx="877824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TRUE EDGE AI — NO CLOUD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75520" y="3767328"/>
            <a:ext cx="7717536" cy="1792224"/>
            <a:chOff x="0" y="0"/>
            <a:chExt cx="10290048" cy="23896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90048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4" r="0" b="-339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290048" cy="2389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 inference runs on the ESP32 at 240MHz. Zero internet dependency, zero GDPR exposure, zero latency. Works in underground mines, RF-shielded plants, and remote sites.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5943" y="6058919"/>
            <a:ext cx="8346443" cy="3225803"/>
            <a:chOff x="0" y="0"/>
            <a:chExt cx="11128591" cy="4301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28628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128628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882884" y="0"/>
                  </a:lnTo>
                  <a:cubicBezTo>
                    <a:pt x="11018647" y="0"/>
                    <a:pt x="11128628" y="109982"/>
                    <a:pt x="11128628" y="245745"/>
                  </a:cubicBezTo>
                  <a:lnTo>
                    <a:pt x="11128628" y="4055364"/>
                  </a:lnTo>
                  <a:cubicBezTo>
                    <a:pt x="11128628" y="4191127"/>
                    <a:pt x="11018647" y="4301109"/>
                    <a:pt x="1088288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400800"/>
            <a:ext cx="804672" cy="804672"/>
            <a:chOff x="0" y="0"/>
            <a:chExt cx="1072896" cy="107289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75104" y="6400800"/>
            <a:ext cx="6583680" cy="768096"/>
            <a:chOff x="0" y="0"/>
            <a:chExt cx="877824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ISO 2631-1 WBV DETECTION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7315200"/>
            <a:ext cx="7717536" cy="1792224"/>
            <a:chOff x="0" y="0"/>
            <a:chExt cx="10290048" cy="23896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90048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4" r="0" b="-339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290048" cy="2389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Rolling 0.5s RMS window detects 4–8Hz whole-body vibrations exceeding the EU Directive 2002/44/EC daily action value — a hazard most wearables completely ignore.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97063" y="6058919"/>
            <a:ext cx="8346443" cy="3225803"/>
            <a:chOff x="0" y="0"/>
            <a:chExt cx="11128591" cy="43010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128628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128628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10882884" y="0"/>
                  </a:lnTo>
                  <a:cubicBezTo>
                    <a:pt x="11018647" y="0"/>
                    <a:pt x="11128628" y="109982"/>
                    <a:pt x="11128628" y="245745"/>
                  </a:cubicBezTo>
                  <a:lnTo>
                    <a:pt x="11128628" y="4055364"/>
                  </a:lnTo>
                  <a:cubicBezTo>
                    <a:pt x="11128628" y="4191127"/>
                    <a:pt x="11018647" y="4301109"/>
                    <a:pt x="1088288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0" y="6400800"/>
            <a:ext cx="804672" cy="804672"/>
            <a:chOff x="0" y="0"/>
            <a:chExt cx="1072896" cy="107289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36224" y="6400800"/>
            <a:ext cx="6583680" cy="768096"/>
            <a:chOff x="0" y="0"/>
            <a:chExt cx="87782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199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DISTINCT HAPTIC LANGUAGE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75520" y="7315200"/>
            <a:ext cx="7717536" cy="1792224"/>
            <a:chOff x="0" y="0"/>
            <a:chExt cx="10290048" cy="23896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90048" cy="2389632"/>
            </a:xfrm>
            <a:custGeom>
              <a:avLst/>
              <a:gdLst/>
              <a:ahLst/>
              <a:cxnLst/>
              <a:rect r="r" b="b" t="t" l="l"/>
              <a:pathLst>
                <a:path h="238963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4" r="0" b="-339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290048" cy="2389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 unique vibration patterns encode hazard type without requiring the worker to look at a screen. Designed for high-noise factory floors where visual/audio alerts fail.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326992"/>
            <a:ext cx="16459200" cy="2522002"/>
            <a:chOff x="0" y="0"/>
            <a:chExt cx="21945600" cy="3362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362669"/>
            </a:xfrm>
            <a:custGeom>
              <a:avLst/>
              <a:gdLst/>
              <a:ahLst/>
              <a:cxnLst/>
              <a:rect r="r" b="b" t="t" l="l"/>
              <a:pathLst>
                <a:path h="336266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362669"/>
                  </a:lnTo>
                  <a:lnTo>
                    <a:pt x="0" y="3362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1" r="0" b="-670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336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b="true" sz="6800" spc="10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CHALLENGES</a:t>
              </a:r>
            </a:p>
            <a:p>
              <a:pPr algn="l">
                <a:lnSpc>
                  <a:spcPts val="8159"/>
                </a:lnSpc>
              </a:pPr>
              <a:r>
                <a:rPr lang="en-US" b="true" sz="6800" spc="1000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FACED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377440"/>
            <a:ext cx="10972800" cy="694944"/>
            <a:chOff x="0" y="0"/>
            <a:chExt cx="146304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658" r="0" b="-2576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4630400" cy="91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2A2A2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&amp; How We Overcame Them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3315719"/>
            <a:ext cx="2219963" cy="537467"/>
            <a:chOff x="0" y="0"/>
            <a:chExt cx="2959951" cy="716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328416"/>
            <a:ext cx="2194560" cy="512064"/>
            <a:chOff x="0" y="0"/>
            <a:chExt cx="292608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CHALLENGE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00400" y="3328416"/>
            <a:ext cx="14264640" cy="548640"/>
            <a:chOff x="0" y="0"/>
            <a:chExt cx="19019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9019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No female-calibrated IMU datasets exist publicly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0263" y="3919223"/>
            <a:ext cx="2219963" cy="537467"/>
            <a:chOff x="0" y="0"/>
            <a:chExt cx="2959951" cy="7166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931920"/>
            <a:ext cx="2194560" cy="512064"/>
            <a:chOff x="0" y="0"/>
            <a:chExt cx="29260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00400" y="3931920"/>
            <a:ext cx="14264640" cy="729673"/>
            <a:chOff x="0" y="0"/>
            <a:chExt cx="19019520" cy="9728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19520" cy="972897"/>
            </a:xfrm>
            <a:custGeom>
              <a:avLst/>
              <a:gdLst/>
              <a:ahLst/>
              <a:cxnLst/>
              <a:rect r="r" b="b" t="t" l="l"/>
              <a:pathLst>
                <a:path h="972897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2897"/>
                  </a:lnTo>
                  <a:lnTo>
                    <a:pt x="0" y="972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325" r="0" b="-3185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9019520" cy="972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Built a custom synthetic data generator using NumPy — physics-accurate models for REBA-scored lifting, twist, and ISO 2631-1 WBV simulations.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0263" y="4632455"/>
            <a:ext cx="16667483" cy="61979"/>
            <a:chOff x="0" y="0"/>
            <a:chExt cx="22223311" cy="826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23349" cy="82677"/>
            </a:xfrm>
            <a:custGeom>
              <a:avLst/>
              <a:gdLst/>
              <a:ahLst/>
              <a:cxnLst/>
              <a:rect r="r" b="b" t="t" l="l"/>
              <a:pathLst>
                <a:path h="82677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CCCCCC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0263" y="4925063"/>
            <a:ext cx="2219963" cy="537467"/>
            <a:chOff x="0" y="0"/>
            <a:chExt cx="2959951" cy="7166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937760"/>
            <a:ext cx="2194560" cy="512064"/>
            <a:chOff x="0" y="0"/>
            <a:chExt cx="29260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CHALLENGE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00400" y="4937760"/>
            <a:ext cx="14264640" cy="548640"/>
            <a:chOff x="0" y="0"/>
            <a:chExt cx="190195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9019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Angle drift from accelerometer-only tilt estimation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0263" y="5528567"/>
            <a:ext cx="2219963" cy="537467"/>
            <a:chOff x="0" y="0"/>
            <a:chExt cx="2959951" cy="716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5541264"/>
            <a:ext cx="2194560" cy="512064"/>
            <a:chOff x="0" y="0"/>
            <a:chExt cx="29260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SOLUTION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200400" y="5541264"/>
            <a:ext cx="14264640" cy="729673"/>
            <a:chOff x="0" y="0"/>
            <a:chExt cx="19019520" cy="9728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19520" cy="972897"/>
            </a:xfrm>
            <a:custGeom>
              <a:avLst/>
              <a:gdLst/>
              <a:ahLst/>
              <a:cxnLst/>
              <a:rect r="r" b="b" t="t" l="l"/>
              <a:pathLst>
                <a:path h="972897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2897"/>
                  </a:lnTo>
                  <a:lnTo>
                    <a:pt x="0" y="972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325" r="0" b="-3185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9019520" cy="972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Debounce filter (5 consecutive bad readings = 250ms window) suppresses transient noise. Production path adds Madgwick AHRS filter for gyro fusion.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6241799"/>
            <a:ext cx="16667483" cy="61979"/>
            <a:chOff x="0" y="0"/>
            <a:chExt cx="22223311" cy="826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223349" cy="82677"/>
            </a:xfrm>
            <a:custGeom>
              <a:avLst/>
              <a:gdLst/>
              <a:ahLst/>
              <a:cxnLst/>
              <a:rect r="r" b="b" t="t" l="l"/>
              <a:pathLst>
                <a:path h="82677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CCCCCC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10263" y="6534407"/>
            <a:ext cx="2219963" cy="537467"/>
            <a:chOff x="0" y="0"/>
            <a:chExt cx="2959951" cy="7166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6547104"/>
            <a:ext cx="2194560" cy="512064"/>
            <a:chOff x="0" y="0"/>
            <a:chExt cx="292608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CHALLENGE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200400" y="6547104"/>
            <a:ext cx="14264640" cy="548640"/>
            <a:chOff x="0" y="0"/>
            <a:chExt cx="19019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9019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ESP32 flash/RAM budget for TFLite Micro model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0263" y="7137911"/>
            <a:ext cx="2219963" cy="537467"/>
            <a:chOff x="0" y="0"/>
            <a:chExt cx="2959951" cy="7166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7150608"/>
            <a:ext cx="2194560" cy="512064"/>
            <a:chOff x="0" y="0"/>
            <a:chExt cx="29260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SOLUTION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200400" y="7150608"/>
            <a:ext cx="14264640" cy="729673"/>
            <a:chOff x="0" y="0"/>
            <a:chExt cx="19019520" cy="9728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019520" cy="972897"/>
            </a:xfrm>
            <a:custGeom>
              <a:avLst/>
              <a:gdLst/>
              <a:ahLst/>
              <a:cxnLst/>
              <a:rect r="r" b="b" t="t" l="l"/>
              <a:pathLst>
                <a:path h="972897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2897"/>
                  </a:lnTo>
                  <a:lnTo>
                    <a:pt x="0" y="972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325" r="0" b="-3185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9019520" cy="972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Int8 quantization via Edge Impulse EON Tuner reduces model to &lt;50KB with 4ms inference — well within the 400KB flash budget.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0263" y="7851143"/>
            <a:ext cx="16667483" cy="61979"/>
            <a:chOff x="0" y="0"/>
            <a:chExt cx="22223311" cy="826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223349" cy="82677"/>
            </a:xfrm>
            <a:custGeom>
              <a:avLst/>
              <a:gdLst/>
              <a:ahLst/>
              <a:cxnLst/>
              <a:rect r="r" b="b" t="t" l="l"/>
              <a:pathLst>
                <a:path h="82677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82677"/>
                  </a:lnTo>
                  <a:lnTo>
                    <a:pt x="0" y="82677"/>
                  </a:lnTo>
                  <a:close/>
                </a:path>
              </a:pathLst>
            </a:custGeom>
            <a:solidFill>
              <a:srgbClr val="CCCCCC"/>
            </a:solidFill>
            <a:ln w="254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10263" y="8143751"/>
            <a:ext cx="2219963" cy="537467"/>
            <a:chOff x="0" y="0"/>
            <a:chExt cx="2959951" cy="71662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8156448"/>
            <a:ext cx="2194560" cy="512064"/>
            <a:chOff x="0" y="0"/>
            <a:chExt cx="292608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CHALLENGE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200400" y="8156448"/>
            <a:ext cx="14264640" cy="548640"/>
            <a:chOff x="0" y="0"/>
            <a:chExt cx="19019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1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9019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False positives from single stumble steps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10263" y="8747255"/>
            <a:ext cx="2219963" cy="537467"/>
            <a:chOff x="0" y="0"/>
            <a:chExt cx="2959951" cy="7166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59989" cy="716661"/>
            </a:xfrm>
            <a:custGeom>
              <a:avLst/>
              <a:gdLst/>
              <a:ahLst/>
              <a:cxnLst/>
              <a:rect r="r" b="b" t="t" l="l"/>
              <a:pathLst>
                <a:path h="716661" w="2959989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831973" y="0"/>
                  </a:lnTo>
                  <a:cubicBezTo>
                    <a:pt x="2902585" y="0"/>
                    <a:pt x="2959989" y="57277"/>
                    <a:pt x="2959989" y="128016"/>
                  </a:cubicBezTo>
                  <a:lnTo>
                    <a:pt x="2959989" y="588645"/>
                  </a:lnTo>
                  <a:cubicBezTo>
                    <a:pt x="2959989" y="659257"/>
                    <a:pt x="2902712" y="716661"/>
                    <a:pt x="2831973" y="716661"/>
                  </a:cubicBezTo>
                  <a:lnTo>
                    <a:pt x="128016" y="716661"/>
                  </a:lnTo>
                  <a:cubicBezTo>
                    <a:pt x="57277" y="716661"/>
                    <a:pt x="0" y="659384"/>
                    <a:pt x="0" y="588645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8759952"/>
            <a:ext cx="2194560" cy="512064"/>
            <a:chOff x="0" y="0"/>
            <a:chExt cx="29260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9260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SOLUTION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200400" y="8759952"/>
            <a:ext cx="14264640" cy="729673"/>
            <a:chOff x="0" y="0"/>
            <a:chExt cx="19019520" cy="97289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019520" cy="972897"/>
            </a:xfrm>
            <a:custGeom>
              <a:avLst/>
              <a:gdLst/>
              <a:ahLst/>
              <a:cxnLst/>
              <a:rect r="r" b="b" t="t" l="l"/>
              <a:pathLst>
                <a:path h="972897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72897"/>
                  </a:lnTo>
                  <a:lnTo>
                    <a:pt x="0" y="972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325" r="0" b="-31851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9019520" cy="972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per-class consecutive-count threshold ensures only sustained posture violations (&gt;250ms) trigger alerts, eliminating single-sample noise spikes.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29184"/>
            <a:ext cx="16459200" cy="1230353"/>
            <a:chOff x="0" y="0"/>
            <a:chExt cx="21945600" cy="1640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0471"/>
            </a:xfrm>
            <a:custGeom>
              <a:avLst/>
              <a:gdLst/>
              <a:ahLst/>
              <a:cxnLst/>
              <a:rect r="r" b="b" t="t" l="l"/>
              <a:pathLst>
                <a:path h="164047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585" r="0" b="-2067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 spc="1000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TECHNICAL IMPLEMENTATION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2103120"/>
            <a:ext cx="8229600" cy="768096"/>
            <a:chOff x="0" y="0"/>
            <a:chExt cx="10972800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9728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600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3004823"/>
            <a:ext cx="2677163" cy="665483"/>
            <a:chOff x="0" y="0"/>
            <a:chExt cx="3569551" cy="88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017520"/>
            <a:ext cx="2651760" cy="640080"/>
            <a:chOff x="0" y="0"/>
            <a:chExt cx="353568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MCU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66160" y="3090672"/>
            <a:ext cx="5120640" cy="548640"/>
            <a:chOff x="0" y="0"/>
            <a:chExt cx="6827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ESP32 / Arduino Nano 33 BLE Sense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3919223"/>
            <a:ext cx="2677163" cy="665483"/>
            <a:chOff x="0" y="0"/>
            <a:chExt cx="3569551" cy="8873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931920"/>
            <a:ext cx="2651760" cy="640080"/>
            <a:chOff x="0" y="0"/>
            <a:chExt cx="35356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IMU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66160" y="4005072"/>
            <a:ext cx="5120640" cy="548640"/>
            <a:chOff x="0" y="0"/>
            <a:chExt cx="6827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MPU-6050 (I²C, ±4g / ±500°/s)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4833623"/>
            <a:ext cx="2677163" cy="665483"/>
            <a:chOff x="0" y="0"/>
            <a:chExt cx="3569551" cy="887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31520" y="4846320"/>
            <a:ext cx="2651760" cy="640080"/>
            <a:chOff x="0" y="0"/>
            <a:chExt cx="35356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ML Training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566160" y="4919472"/>
            <a:ext cx="5120640" cy="548640"/>
            <a:chOff x="0" y="0"/>
            <a:chExt cx="6827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Edge Impulse + TensorFlow Lite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8823" y="5748023"/>
            <a:ext cx="2677163" cy="665483"/>
            <a:chOff x="0" y="0"/>
            <a:chExt cx="3569551" cy="8873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31520" y="5760720"/>
            <a:ext cx="2651760" cy="640080"/>
            <a:chOff x="0" y="0"/>
            <a:chExt cx="35356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Gen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566160" y="5833872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 · NumPy · Pandas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8823" y="6662423"/>
            <a:ext cx="2677163" cy="665483"/>
            <a:chOff x="0" y="0"/>
            <a:chExt cx="3569551" cy="8873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" y="6675120"/>
            <a:ext cx="2651760" cy="640080"/>
            <a:chOff x="0" y="0"/>
            <a:chExt cx="353568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Firmware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66160" y="6748272"/>
            <a:ext cx="5120640" cy="548640"/>
            <a:chOff x="0" y="0"/>
            <a:chExt cx="68275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C++ · Arduino IDE 2.x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18823" y="7576823"/>
            <a:ext cx="2677163" cy="665483"/>
            <a:chOff x="0" y="0"/>
            <a:chExt cx="3569551" cy="8873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31520" y="7589520"/>
            <a:ext cx="2651760" cy="640080"/>
            <a:chOff x="0" y="0"/>
            <a:chExt cx="35356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 Format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566160" y="7662672"/>
            <a:ext cx="5120640" cy="548640"/>
            <a:chOff x="0" y="0"/>
            <a:chExt cx="682752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TFLite Micro Int8 Quantized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18823" y="8491223"/>
            <a:ext cx="2677163" cy="665483"/>
            <a:chOff x="0" y="0"/>
            <a:chExt cx="3569551" cy="88731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69589" cy="887349"/>
            </a:xfrm>
            <a:custGeom>
              <a:avLst/>
              <a:gdLst/>
              <a:ahLst/>
              <a:cxnLst/>
              <a:rect r="r" b="b" t="t" l="l"/>
              <a:pathLst>
                <a:path h="887349" w="3569589">
                  <a:moveTo>
                    <a:pt x="0" y="0"/>
                  </a:moveTo>
                  <a:lnTo>
                    <a:pt x="3569589" y="0"/>
                  </a:lnTo>
                  <a:lnTo>
                    <a:pt x="35695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731520" y="8503920"/>
            <a:ext cx="2651760" cy="640080"/>
            <a:chOff x="0" y="0"/>
            <a:chExt cx="353568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35680" cy="853440"/>
            </a:xfrm>
            <a:custGeom>
              <a:avLst/>
              <a:gdLst/>
              <a:ahLst/>
              <a:cxnLst/>
              <a:rect r="r" b="b" t="t" l="l"/>
              <a:pathLst>
                <a:path h="85344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5356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Haptic Output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566160" y="8577072"/>
            <a:ext cx="5120640" cy="548640"/>
            <a:chOff x="0" y="0"/>
            <a:chExt cx="68275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68275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PWM GPIO → N-MOSFET → LRA Motor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26880" y="2103120"/>
            <a:ext cx="8229600" cy="768096"/>
            <a:chOff x="0" y="0"/>
            <a:chExt cx="1097280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09728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600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EDGE INFERENCE PIPELINE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14183" y="3096263"/>
            <a:ext cx="537467" cy="537467"/>
            <a:chOff x="0" y="0"/>
            <a:chExt cx="716623" cy="71662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0" y="3072384"/>
            <a:ext cx="4389120" cy="475488"/>
            <a:chOff x="0" y="0"/>
            <a:chExt cx="5852160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MPU-6050 burst read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058400" y="3493008"/>
            <a:ext cx="7498080" cy="402336"/>
            <a:chOff x="0" y="0"/>
            <a:chExt cx="999744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14 bytes / 0.4ms via I²C @ 400kHz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33639" y="3644903"/>
            <a:ext cx="98555" cy="354587"/>
            <a:chOff x="0" y="0"/>
            <a:chExt cx="131407" cy="47278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314183" y="4010663"/>
            <a:ext cx="537467" cy="537467"/>
            <a:chOff x="0" y="0"/>
            <a:chExt cx="716623" cy="71662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0058400" y="3986784"/>
            <a:ext cx="4389120" cy="475488"/>
            <a:chOff x="0" y="0"/>
            <a:chExt cx="5852160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Scale conversion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058400" y="4407408"/>
            <a:ext cx="7498080" cy="402336"/>
            <a:chOff x="0" y="0"/>
            <a:chExt cx="999744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Raw → m/s² and °/s (float32)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33639" y="4559303"/>
            <a:ext cx="98555" cy="354587"/>
            <a:chOff x="0" y="0"/>
            <a:chExt cx="131407" cy="47278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314183" y="4925063"/>
            <a:ext cx="537467" cy="537467"/>
            <a:chOff x="0" y="0"/>
            <a:chExt cx="716623" cy="7166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0058400" y="4901184"/>
            <a:ext cx="4389120" cy="475488"/>
            <a:chOff x="0" y="0"/>
            <a:chExt cx="5852160" cy="6339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Angle computation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058400" y="5321808"/>
            <a:ext cx="7498080" cy="402336"/>
            <a:chOff x="0" y="0"/>
            <a:chExt cx="9997440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atan2 pitch/roll + vibration RMS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533639" y="5473703"/>
            <a:ext cx="98555" cy="354587"/>
            <a:chOff x="0" y="0"/>
            <a:chExt cx="131407" cy="47278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9314183" y="5839463"/>
            <a:ext cx="537467" cy="537467"/>
            <a:chOff x="0" y="0"/>
            <a:chExt cx="716623" cy="71662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58400" y="5815584"/>
            <a:ext cx="4389120" cy="475488"/>
            <a:chOff x="0" y="0"/>
            <a:chExt cx="585216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Feature windowing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58400" y="6236208"/>
            <a:ext cx="7498080" cy="402336"/>
            <a:chOff x="0" y="0"/>
            <a:chExt cx="999744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50-sample × 6-axis statistical buffer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533639" y="6388103"/>
            <a:ext cx="98555" cy="354587"/>
            <a:chOff x="0" y="0"/>
            <a:chExt cx="131407" cy="47278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9314183" y="6753863"/>
            <a:ext cx="537467" cy="537467"/>
            <a:chOff x="0" y="0"/>
            <a:chExt cx="716623" cy="71662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058400" y="6729984"/>
            <a:ext cx="4389120" cy="475488"/>
            <a:chOff x="0" y="0"/>
            <a:chExt cx="5852160" cy="6339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TFLite inference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058400" y="7150608"/>
            <a:ext cx="7498080" cy="402336"/>
            <a:chOff x="0" y="0"/>
            <a:chExt cx="9997440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Int8 model → 4-class softmax (&lt;8ms)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533639" y="7302503"/>
            <a:ext cx="98555" cy="354587"/>
            <a:chOff x="0" y="0"/>
            <a:chExt cx="131407" cy="47278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9314183" y="7668263"/>
            <a:ext cx="537467" cy="537467"/>
            <a:chOff x="0" y="0"/>
            <a:chExt cx="716623" cy="71662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58400" y="7644384"/>
            <a:ext cx="4389120" cy="475488"/>
            <a:chOff x="0" y="0"/>
            <a:chExt cx="5852160" cy="6339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Debounce gate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058400" y="8065008"/>
            <a:ext cx="7498080" cy="402336"/>
            <a:chOff x="0" y="0"/>
            <a:chExt cx="9997440" cy="5364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5× consecutive threshold (250ms)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533639" y="8216903"/>
            <a:ext cx="98555" cy="354587"/>
            <a:chOff x="0" y="0"/>
            <a:chExt cx="131407" cy="47278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31445" cy="472821"/>
            </a:xfrm>
            <a:custGeom>
              <a:avLst/>
              <a:gdLst/>
              <a:ahLst/>
              <a:cxnLst/>
              <a:rect r="r" b="b" t="t" l="l"/>
              <a:pathLst>
                <a:path h="472821" w="131445">
                  <a:moveTo>
                    <a:pt x="0" y="0"/>
                  </a:moveTo>
                  <a:lnTo>
                    <a:pt x="131445" y="0"/>
                  </a:lnTo>
                  <a:lnTo>
                    <a:pt x="131445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9314183" y="8582663"/>
            <a:ext cx="537467" cy="537467"/>
            <a:chOff x="0" y="0"/>
            <a:chExt cx="716623" cy="71662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16661" cy="716661"/>
            </a:xfrm>
            <a:custGeom>
              <a:avLst/>
              <a:gdLst/>
              <a:ahLst/>
              <a:cxnLst/>
              <a:rect r="r" b="b" t="t" l="l"/>
              <a:pathLst>
                <a:path h="716661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058400" y="8558784"/>
            <a:ext cx="4389120" cy="475488"/>
            <a:chOff x="0" y="0"/>
            <a:chExt cx="5852160" cy="6339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585216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Haptic dispatch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58400" y="8979408"/>
            <a:ext cx="7498080" cy="402336"/>
            <a:chOff x="0" y="0"/>
            <a:chExt cx="9997440" cy="5364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997440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130" r="0" b="-31313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999744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Pattern-encoded PWM GPIO → motor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2824398"/>
            <a:chOff x="0" y="0"/>
            <a:chExt cx="21945600" cy="3765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3765864"/>
            </a:xfrm>
            <a:custGeom>
              <a:avLst/>
              <a:gdLst/>
              <a:ahLst/>
              <a:cxnLst/>
              <a:rect r="r" b="b" t="t" l="l"/>
              <a:pathLst>
                <a:path h="37658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65864"/>
                  </a:lnTo>
                  <a:lnTo>
                    <a:pt x="0" y="3765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1" r="0" b="-556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3765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b="true" sz="7600" spc="999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RESULTS &amp;</a:t>
              </a:r>
            </a:p>
            <a:p>
              <a:pPr algn="l">
                <a:lnSpc>
                  <a:spcPts val="9120"/>
                </a:lnSpc>
              </a:pPr>
              <a:r>
                <a:rPr lang="en-US" b="true" sz="7600" spc="999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ACHIEVEMENTS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7383" y="3096263"/>
            <a:ext cx="5328923" cy="2585723"/>
            <a:chOff x="0" y="0"/>
            <a:chExt cx="7105231" cy="3447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3383280"/>
            <a:ext cx="4754880" cy="1230353"/>
            <a:chOff x="0" y="0"/>
            <a:chExt cx="6339840" cy="1640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&lt; 25ms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4572000"/>
            <a:ext cx="4754880" cy="768096"/>
            <a:chOff x="0" y="0"/>
            <a:chExt cx="6339840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Total detection-to-haptic latency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88103" y="3096263"/>
            <a:ext cx="5328923" cy="2585723"/>
            <a:chOff x="0" y="0"/>
            <a:chExt cx="7105231" cy="34476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75120" y="3383280"/>
            <a:ext cx="4754880" cy="1230353"/>
            <a:chOff x="0" y="0"/>
            <a:chExt cx="6339840" cy="1640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2,880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75120" y="4572000"/>
            <a:ext cx="4754880" cy="768096"/>
            <a:chOff x="0" y="0"/>
            <a:chExt cx="6339840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Labelled training windows generated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48823" y="3096263"/>
            <a:ext cx="5328923" cy="2585723"/>
            <a:chOff x="0" y="0"/>
            <a:chExt cx="7105231" cy="34476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435840" y="3383280"/>
            <a:ext cx="4754880" cy="1230353"/>
            <a:chOff x="0" y="0"/>
            <a:chExt cx="6339840" cy="16404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92%+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35840" y="4572000"/>
            <a:ext cx="4754880" cy="768096"/>
            <a:chOff x="0" y="0"/>
            <a:chExt cx="633984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classifier accuracy (Edge Impulse)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7383" y="6113783"/>
            <a:ext cx="5328923" cy="2585723"/>
            <a:chOff x="0" y="0"/>
            <a:chExt cx="7105231" cy="34476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6400800"/>
            <a:ext cx="4754880" cy="1230353"/>
            <a:chOff x="0" y="0"/>
            <a:chExt cx="6339840" cy="16404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 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7589520"/>
            <a:ext cx="4754880" cy="768096"/>
            <a:chOff x="0" y="0"/>
            <a:chExt cx="633984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TFLite Micro inference on ESP32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88103" y="6113783"/>
            <a:ext cx="5328923" cy="2585723"/>
            <a:chOff x="0" y="0"/>
            <a:chExt cx="7105231" cy="34476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675120" y="6400800"/>
            <a:ext cx="4754880" cy="1230353"/>
            <a:chOff x="0" y="0"/>
            <a:chExt cx="6339840" cy="16404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4-Class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75120" y="7589520"/>
            <a:ext cx="4754880" cy="768096"/>
            <a:chOff x="0" y="0"/>
            <a:chExt cx="633984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SAFE · LIFT · TWIST · VIBRATION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48823" y="6113783"/>
            <a:ext cx="5328923" cy="2585723"/>
            <a:chOff x="0" y="0"/>
            <a:chExt cx="7105231" cy="34476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05269" cy="3447669"/>
            </a:xfrm>
            <a:custGeom>
              <a:avLst/>
              <a:gdLst/>
              <a:ahLst/>
              <a:cxnLst/>
              <a:rect r="r" b="b" t="t" l="l"/>
              <a:pathLst>
                <a:path h="3447669" w="7105269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016" y="0"/>
                  </a:lnTo>
                  <a:cubicBezTo>
                    <a:pt x="6995033" y="0"/>
                    <a:pt x="7105269" y="110236"/>
                    <a:pt x="7105269" y="246253"/>
                  </a:cubicBezTo>
                  <a:lnTo>
                    <a:pt x="7105269" y="3201416"/>
                  </a:lnTo>
                  <a:cubicBezTo>
                    <a:pt x="7105269" y="3337433"/>
                    <a:pt x="6995033" y="3447669"/>
                    <a:pt x="685901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435840" y="6400800"/>
            <a:ext cx="4754880" cy="1230353"/>
            <a:chOff x="0" y="0"/>
            <a:chExt cx="6339840" cy="16404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1640471"/>
            </a:xfrm>
            <a:custGeom>
              <a:avLst/>
              <a:gdLst/>
              <a:ahLst/>
              <a:cxnLst/>
              <a:rect r="r" b="b" t="t" l="l"/>
              <a:pathLst>
                <a:path h="1640471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640471"/>
                  </a:lnTo>
                  <a:lnTo>
                    <a:pt x="0" y="16404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4" r="0" b="-236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339840" cy="164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C8E6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50 Hz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35840" y="7589520"/>
            <a:ext cx="4754880" cy="768096"/>
            <a:chOff x="0" y="0"/>
            <a:chExt cx="633984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3398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 IMU sample rate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128523"/>
            <a:chOff x="0" y="0"/>
            <a:chExt cx="24417871" cy="2838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838069"/>
            </a:xfrm>
            <a:custGeom>
              <a:avLst/>
              <a:gdLst/>
              <a:ahLst/>
              <a:cxnLst/>
              <a:rect r="r" b="b" t="t" l="l"/>
              <a:pathLst>
                <a:path h="28380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324349"/>
            <a:chOff x="0" y="0"/>
            <a:chExt cx="21945600" cy="176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765799"/>
            </a:xfrm>
            <a:custGeom>
              <a:avLst/>
              <a:gdLst/>
              <a:ahLst/>
              <a:cxnLst/>
              <a:rect r="r" b="b" t="t" l="l"/>
              <a:pathLst>
                <a:path h="176579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65799"/>
                  </a:lnTo>
                  <a:lnTo>
                    <a:pt x="0" y="1765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283" r="0" b="-18704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775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12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FUTURE ENHANCEMENTS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2328167"/>
            <a:ext cx="5511803" cy="2951483"/>
            <a:chOff x="0" y="0"/>
            <a:chExt cx="7349071" cy="3935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55399" y="2547623"/>
            <a:ext cx="1634747" cy="500891"/>
            <a:chOff x="0" y="0"/>
            <a:chExt cx="2179663" cy="667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68096" y="2560320"/>
            <a:ext cx="1609344" cy="475488"/>
            <a:chOff x="0" y="0"/>
            <a:chExt cx="2145792" cy="6339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74336" y="2523744"/>
            <a:ext cx="694944" cy="694944"/>
            <a:chOff x="0" y="0"/>
            <a:chExt cx="926592" cy="9265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4672" y="3182112"/>
            <a:ext cx="5047488" cy="694944"/>
            <a:chOff x="0" y="0"/>
            <a:chExt cx="6729984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Real Data Collection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4672" y="3895344"/>
            <a:ext cx="5047488" cy="1243584"/>
            <a:chOff x="0" y="0"/>
            <a:chExt cx="6729984" cy="16581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Recruit 20+ female factory volunteers. Collect labelled real-sensor data across shift. Retrain Edge Impulse model to replace synthetic dataset.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51527" y="2328167"/>
            <a:ext cx="5511803" cy="2951483"/>
            <a:chOff x="0" y="0"/>
            <a:chExt cx="7349071" cy="39353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570983" y="2547623"/>
            <a:ext cx="1634747" cy="500891"/>
            <a:chOff x="0" y="0"/>
            <a:chExt cx="2179663" cy="6678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0" y="2560320"/>
            <a:ext cx="1609344" cy="475488"/>
            <a:chOff x="0" y="0"/>
            <a:chExt cx="2145792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789920" y="2523744"/>
            <a:ext cx="694944" cy="694944"/>
            <a:chOff x="0" y="0"/>
            <a:chExt cx="926592" cy="92659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20256" y="3182112"/>
            <a:ext cx="5047488" cy="694944"/>
            <a:chOff x="0" y="0"/>
            <a:chExt cx="6729984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BLE Supervisor Dashboard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20256" y="3895344"/>
            <a:ext cx="5047488" cy="1243584"/>
            <a:chOff x="0" y="0"/>
            <a:chExt cx="6729984" cy="16581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ESP32 BLE broadcasts alert events to a React Native mobile app. Supervisors receive live MSD risk heatmaps per worker per shift.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48823" y="2328167"/>
            <a:ext cx="5511803" cy="2951483"/>
            <a:chOff x="0" y="0"/>
            <a:chExt cx="7349071" cy="39353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68279" y="2547623"/>
            <a:ext cx="1634747" cy="500891"/>
            <a:chOff x="0" y="0"/>
            <a:chExt cx="2179663" cy="6678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380976" y="2560320"/>
            <a:ext cx="1609344" cy="475488"/>
            <a:chOff x="0" y="0"/>
            <a:chExt cx="2145792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587216" y="2523744"/>
            <a:ext cx="694944" cy="694944"/>
            <a:chOff x="0" y="0"/>
            <a:chExt cx="926592" cy="926592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17552" y="3182112"/>
            <a:ext cx="5047488" cy="694944"/>
            <a:chOff x="0" y="0"/>
            <a:chExt cx="6729984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Personalised AI Baseline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17552" y="3895344"/>
            <a:ext cx="5047488" cy="1243584"/>
            <a:chOff x="0" y="0"/>
            <a:chExt cx="6729984" cy="16581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On-device transfer learning adapts the model to each worker's individual movement signature over the first 5 shifts — eliminating false positives.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5943" y="5565143"/>
            <a:ext cx="5511803" cy="2951483"/>
            <a:chOff x="0" y="0"/>
            <a:chExt cx="7349071" cy="39353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55399" y="5784599"/>
            <a:ext cx="1634747" cy="500891"/>
            <a:chOff x="0" y="0"/>
            <a:chExt cx="2179663" cy="6678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68096" y="5797296"/>
            <a:ext cx="1609344" cy="475488"/>
            <a:chOff x="0" y="0"/>
            <a:chExt cx="2145792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74336" y="5760720"/>
            <a:ext cx="694944" cy="694944"/>
            <a:chOff x="0" y="0"/>
            <a:chExt cx="926592" cy="926592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04672" y="6419088"/>
            <a:ext cx="5047488" cy="694944"/>
            <a:chOff x="0" y="0"/>
            <a:chExt cx="6729984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Multi-Sensor Fusion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4672" y="7132320"/>
            <a:ext cx="5047488" cy="1243584"/>
            <a:chOff x="0" y="0"/>
            <a:chExt cx="6729984" cy="16581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 BMP280 barometric sensor for kneeling/floor-level detection, and a heart-rate monitor to correlate physical exertion with posture risk scores.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51527" y="5565143"/>
            <a:ext cx="5511803" cy="2951483"/>
            <a:chOff x="0" y="0"/>
            <a:chExt cx="7349071" cy="393531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570983" y="5784599"/>
            <a:ext cx="1634747" cy="500891"/>
            <a:chOff x="0" y="0"/>
            <a:chExt cx="2179663" cy="66785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583680" y="5797296"/>
            <a:ext cx="1609344" cy="475488"/>
            <a:chOff x="0" y="0"/>
            <a:chExt cx="2145792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789920" y="5760720"/>
            <a:ext cx="694944" cy="694944"/>
            <a:chOff x="0" y="0"/>
            <a:chExt cx="926592" cy="926592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620256" y="6419088"/>
            <a:ext cx="5047488" cy="694944"/>
            <a:chOff x="0" y="0"/>
            <a:chExt cx="6729984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ISO Certification &amp; Scale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620256" y="7132320"/>
            <a:ext cx="5047488" cy="1243584"/>
            <a:chOff x="0" y="0"/>
            <a:chExt cx="6729984" cy="16581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Pursue CE/ISO 13849 functional safety certification. Partner with industrial PPE manufacturers (e.g., Honeywell, 3M) for volume production.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148823" y="5565143"/>
            <a:ext cx="5511803" cy="2951483"/>
            <a:chOff x="0" y="0"/>
            <a:chExt cx="7349071" cy="39353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49109" cy="3935349"/>
            </a:xfrm>
            <a:custGeom>
              <a:avLst/>
              <a:gdLst/>
              <a:ahLst/>
              <a:cxnLst/>
              <a:rect r="r" b="b" t="t" l="l"/>
              <a:pathLst>
                <a:path h="3935349" w="734910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103110" y="0"/>
                  </a:lnTo>
                  <a:cubicBezTo>
                    <a:pt x="7239000" y="0"/>
                    <a:pt x="7349109" y="110109"/>
                    <a:pt x="7349109" y="245999"/>
                  </a:cubicBezTo>
                  <a:lnTo>
                    <a:pt x="7349109" y="3689350"/>
                  </a:lnTo>
                  <a:cubicBezTo>
                    <a:pt x="7349109" y="3825240"/>
                    <a:pt x="7239000" y="3935349"/>
                    <a:pt x="710311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368279" y="5784599"/>
            <a:ext cx="1634747" cy="500891"/>
            <a:chOff x="0" y="0"/>
            <a:chExt cx="2179663" cy="66785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79701" cy="667893"/>
            </a:xfrm>
            <a:custGeom>
              <a:avLst/>
              <a:gdLst/>
              <a:ahLst/>
              <a:cxnLst/>
              <a:rect r="r" b="b" t="t" l="l"/>
              <a:pathLst>
                <a:path h="667893" w="217970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2076958" y="0"/>
                  </a:lnTo>
                  <a:cubicBezTo>
                    <a:pt x="2133727" y="0"/>
                    <a:pt x="2179701" y="45974"/>
                    <a:pt x="2179701" y="102743"/>
                  </a:cubicBezTo>
                  <a:lnTo>
                    <a:pt x="2179701" y="565150"/>
                  </a:lnTo>
                  <a:cubicBezTo>
                    <a:pt x="2179701" y="621919"/>
                    <a:pt x="2133727" y="667893"/>
                    <a:pt x="2076958" y="667893"/>
                  </a:cubicBezTo>
                  <a:lnTo>
                    <a:pt x="102743" y="667893"/>
                  </a:lnTo>
                  <a:cubicBezTo>
                    <a:pt x="45974" y="667893"/>
                    <a:pt x="0" y="621792"/>
                    <a:pt x="0" y="565150"/>
                  </a:cubicBezTo>
                  <a:close/>
                </a:path>
              </a:pathLst>
            </a:custGeom>
            <a:solidFill>
              <a:srgbClr val="141414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2380976" y="5797296"/>
            <a:ext cx="1609344" cy="475488"/>
            <a:chOff x="0" y="0"/>
            <a:chExt cx="2145792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145792" cy="643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PHASE 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587216" y="5760720"/>
            <a:ext cx="694944" cy="694944"/>
            <a:chOff x="0" y="0"/>
            <a:chExt cx="926592" cy="926592"/>
          </a:xfrm>
        </p:grpSpPr>
        <p:sp>
          <p:nvSpPr>
            <p:cNvPr name="Freeform 90" id="90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417552" y="6419088"/>
            <a:ext cx="5047488" cy="694944"/>
            <a:chOff x="0" y="0"/>
            <a:chExt cx="6729984" cy="9265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729984" cy="926592"/>
            </a:xfrm>
            <a:custGeom>
              <a:avLst/>
              <a:gdLst/>
              <a:ahLst/>
              <a:cxnLst/>
              <a:rect r="r" b="b" t="t" l="l"/>
              <a:pathLst>
                <a:path h="92659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6729984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Menstrual Cycle Adaptation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417552" y="7132320"/>
            <a:ext cx="5047488" cy="1243584"/>
            <a:chOff x="0" y="0"/>
            <a:chExt cx="6729984" cy="16581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729984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6729984" cy="1658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A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Integrate cycle-phase data to dynamically lower alert thresholds during high-fatigue phases — a world-first ergonomic safety feature.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-12697" y="8728967"/>
            <a:ext cx="18313403" cy="1570739"/>
            <a:chOff x="0" y="0"/>
            <a:chExt cx="24417871" cy="20943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417910" cy="2094357"/>
            </a:xfrm>
            <a:custGeom>
              <a:avLst/>
              <a:gdLst/>
              <a:ahLst/>
              <a:cxnLst/>
              <a:rect r="r" b="b" t="t" l="l"/>
              <a:pathLst>
                <a:path h="20943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94357"/>
                  </a:lnTo>
                  <a:lnTo>
                    <a:pt x="0" y="2094357"/>
                  </a:ln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914400" y="9107424"/>
            <a:ext cx="16459200" cy="694944"/>
            <a:chOff x="0" y="0"/>
            <a:chExt cx="21945600" cy="926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194560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141414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Phase 2 target: 6 months post-hackathon  ·  Phase 3: 18 months  ·  Phase 4: Productisation at 36 months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17627"/>
            <a:chOff x="0" y="0"/>
            <a:chExt cx="24417871" cy="24235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23541"/>
            </a:xfrm>
            <a:custGeom>
              <a:avLst/>
              <a:gdLst/>
              <a:ahLst/>
              <a:cxnLst/>
              <a:rect r="r" b="b" t="t" l="l"/>
              <a:pathLst>
                <a:path h="242354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23541"/>
                  </a:lnTo>
                  <a:lnTo>
                    <a:pt x="0" y="2423541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83660" y="426977"/>
            <a:ext cx="17717046" cy="1133856"/>
            <a:chOff x="0" y="0"/>
            <a:chExt cx="23622728" cy="1511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2272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3622729">
                  <a:moveTo>
                    <a:pt x="0" y="0"/>
                  </a:moveTo>
                  <a:lnTo>
                    <a:pt x="23622729" y="0"/>
                  </a:lnTo>
                  <a:lnTo>
                    <a:pt x="23622729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7099" b="-23284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3622728" cy="1511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 spc="800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PROJECT PLAN — FUNCTIONAL PROTOTYPE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998983"/>
            <a:ext cx="2860043" cy="1634747"/>
            <a:chOff x="0" y="0"/>
            <a:chExt cx="3813391" cy="2179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33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3813302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3615182" y="0"/>
                  </a:lnTo>
                  <a:cubicBezTo>
                    <a:pt x="3724656" y="0"/>
                    <a:pt x="3813302" y="88773"/>
                    <a:pt x="3813302" y="198120"/>
                  </a:cubicBezTo>
                  <a:lnTo>
                    <a:pt x="3813302" y="1981454"/>
                  </a:lnTo>
                  <a:cubicBezTo>
                    <a:pt x="3813302" y="2090928"/>
                    <a:pt x="3724529" y="2179574"/>
                    <a:pt x="3615182" y="2179574"/>
                  </a:cubicBezTo>
                  <a:lnTo>
                    <a:pt x="198120" y="2179574"/>
                  </a:lnTo>
                  <a:cubicBezTo>
                    <a:pt x="88646" y="2179574"/>
                    <a:pt x="0" y="2090801"/>
                    <a:pt x="0" y="1981454"/>
                  </a:cubicBez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2103120"/>
            <a:ext cx="2834640" cy="694944"/>
            <a:chOff x="0" y="0"/>
            <a:chExt cx="377952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779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1–2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2852928"/>
            <a:ext cx="2834640" cy="585216"/>
            <a:chOff x="0" y="0"/>
            <a:chExt cx="37795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9520" cy="780288"/>
            </a:xfrm>
            <a:custGeom>
              <a:avLst/>
              <a:gdLst/>
              <a:ahLst/>
              <a:cxnLst/>
              <a:rect r="r" b="b" t="t" l="l"/>
              <a:pathLst>
                <a:path h="78028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80" r="0" b="-443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795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Hardware Assembly &amp; IMU Calibration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49040" y="2011680"/>
            <a:ext cx="14081760" cy="402336"/>
            <a:chOff x="0" y="0"/>
            <a:chExt cx="18775680" cy="5364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Solder MPU-6050 → ESP32 breakout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49040" y="2414016"/>
            <a:ext cx="14081760" cy="402336"/>
            <a:chOff x="0" y="0"/>
            <a:chExt cx="1877568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Verify I²C 14-byte burst read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49040" y="2816352"/>
            <a:ext cx="14081760" cy="402336"/>
            <a:chOff x="0" y="0"/>
            <a:chExt cx="18775680" cy="5364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Calibrate zero-offsets for each vest unit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749040" y="3218688"/>
            <a:ext cx="14081760" cy="402336"/>
            <a:chOff x="0" y="0"/>
            <a:chExt cx="18775680" cy="536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Validate haptic motor PWM patterns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5943" y="4010663"/>
            <a:ext cx="2860043" cy="1634747"/>
            <a:chOff x="0" y="0"/>
            <a:chExt cx="3813391" cy="21796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33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3813302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3615182" y="0"/>
                  </a:lnTo>
                  <a:cubicBezTo>
                    <a:pt x="3724656" y="0"/>
                    <a:pt x="3813302" y="88773"/>
                    <a:pt x="3813302" y="198120"/>
                  </a:cubicBezTo>
                  <a:lnTo>
                    <a:pt x="3813302" y="1981454"/>
                  </a:lnTo>
                  <a:cubicBezTo>
                    <a:pt x="3813302" y="2090928"/>
                    <a:pt x="3724529" y="2179574"/>
                    <a:pt x="3615182" y="2179574"/>
                  </a:cubicBezTo>
                  <a:lnTo>
                    <a:pt x="198120" y="2179574"/>
                  </a:lnTo>
                  <a:cubicBezTo>
                    <a:pt x="88646" y="2179574"/>
                    <a:pt x="0" y="2090801"/>
                    <a:pt x="0" y="1981454"/>
                  </a:cubicBez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48640" y="4114800"/>
            <a:ext cx="2834640" cy="694944"/>
            <a:chOff x="0" y="0"/>
            <a:chExt cx="377952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779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3–4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4864608"/>
            <a:ext cx="2834640" cy="585216"/>
            <a:chOff x="0" y="0"/>
            <a:chExt cx="377952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9520" cy="780288"/>
            </a:xfrm>
            <a:custGeom>
              <a:avLst/>
              <a:gdLst/>
              <a:ahLst/>
              <a:cxnLst/>
              <a:rect r="r" b="b" t="t" l="l"/>
              <a:pathLst>
                <a:path h="78028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80" r="0" b="-443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7795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Collection &amp; Model Training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749040" y="4023360"/>
            <a:ext cx="14081760" cy="402336"/>
            <a:chOff x="0" y="0"/>
            <a:chExt cx="1877568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C8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Recruit 5 volunteers for real lifting sessions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749040" y="4425696"/>
            <a:ext cx="14081760" cy="402336"/>
            <a:chOff x="0" y="0"/>
            <a:chExt cx="1877568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C8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Label 2-hour session data in Edge Impulse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49040" y="4828032"/>
            <a:ext cx="14081760" cy="402336"/>
            <a:chOff x="0" y="0"/>
            <a:chExt cx="1877568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C8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Train 4-class TFLite model (target ≥92%)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749040" y="5230368"/>
            <a:ext cx="14081760" cy="402336"/>
            <a:chOff x="0" y="0"/>
            <a:chExt cx="1877568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C8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EON Tuner to fit within ESP32 flash budget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6022343"/>
            <a:ext cx="2860043" cy="1634747"/>
            <a:chOff x="0" y="0"/>
            <a:chExt cx="3813391" cy="21796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133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3813302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3615182" y="0"/>
                  </a:lnTo>
                  <a:cubicBezTo>
                    <a:pt x="3724656" y="0"/>
                    <a:pt x="3813302" y="88773"/>
                    <a:pt x="3813302" y="198120"/>
                  </a:cubicBezTo>
                  <a:lnTo>
                    <a:pt x="3813302" y="1981454"/>
                  </a:lnTo>
                  <a:cubicBezTo>
                    <a:pt x="3813302" y="2090928"/>
                    <a:pt x="3724529" y="2179574"/>
                    <a:pt x="3615182" y="2179574"/>
                  </a:cubicBezTo>
                  <a:lnTo>
                    <a:pt x="198120" y="2179574"/>
                  </a:lnTo>
                  <a:cubicBezTo>
                    <a:pt x="88646" y="2179574"/>
                    <a:pt x="0" y="2090801"/>
                    <a:pt x="0" y="1981454"/>
                  </a:cubicBezTo>
                  <a:close/>
                </a:path>
              </a:pathLst>
            </a:custGeom>
            <a:solidFill>
              <a:srgbClr val="00D4AA"/>
            </a:solidFill>
            <a:ln w="2540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48640" y="6126480"/>
            <a:ext cx="2834640" cy="694944"/>
            <a:chOff x="0" y="0"/>
            <a:chExt cx="37795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779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5–6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48640" y="6876288"/>
            <a:ext cx="2834640" cy="585216"/>
            <a:chOff x="0" y="0"/>
            <a:chExt cx="377952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780288"/>
            </a:xfrm>
            <a:custGeom>
              <a:avLst/>
              <a:gdLst/>
              <a:ahLst/>
              <a:cxnLst/>
              <a:rect r="r" b="b" t="t" l="l"/>
              <a:pathLst>
                <a:path h="78028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80" r="0" b="-4438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7795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Firmware Integration &amp; Testing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749040" y="6035040"/>
            <a:ext cx="14081760" cy="402336"/>
            <a:chOff x="0" y="0"/>
            <a:chExt cx="1877568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Replace decision matrix with TFLite inference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749040" y="6437376"/>
            <a:ext cx="14081760" cy="402336"/>
            <a:chOff x="0" y="0"/>
            <a:chExt cx="1877568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Madgwick AHRS filter for drift-free angles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749040" y="6839712"/>
            <a:ext cx="14081760" cy="402336"/>
            <a:chOff x="0" y="0"/>
            <a:chExt cx="18775680" cy="5364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Field test on factory floor simulation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749040" y="7242048"/>
            <a:ext cx="14081760" cy="402336"/>
            <a:chOff x="0" y="0"/>
            <a:chExt cx="1877568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Serial + BLE telemetry validation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35943" y="8034023"/>
            <a:ext cx="2860043" cy="1634747"/>
            <a:chOff x="0" y="0"/>
            <a:chExt cx="3813391" cy="217966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133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3813302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3615182" y="0"/>
                  </a:lnTo>
                  <a:cubicBezTo>
                    <a:pt x="3724656" y="0"/>
                    <a:pt x="3813302" y="88773"/>
                    <a:pt x="3813302" y="198120"/>
                  </a:cubicBezTo>
                  <a:lnTo>
                    <a:pt x="3813302" y="1981454"/>
                  </a:lnTo>
                  <a:cubicBezTo>
                    <a:pt x="3813302" y="2090928"/>
                    <a:pt x="3724529" y="2179574"/>
                    <a:pt x="3615182" y="2179574"/>
                  </a:cubicBezTo>
                  <a:lnTo>
                    <a:pt x="198120" y="2179574"/>
                  </a:lnTo>
                  <a:cubicBezTo>
                    <a:pt x="88646" y="2179574"/>
                    <a:pt x="0" y="2090801"/>
                    <a:pt x="0" y="1981454"/>
                  </a:cubicBezTo>
                  <a:close/>
                </a:path>
              </a:pathLst>
            </a:custGeom>
            <a:solidFill>
              <a:srgbClr val="FF8C42"/>
            </a:solidFill>
            <a:ln w="2540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548640" y="8138160"/>
            <a:ext cx="2834640" cy="694944"/>
            <a:chOff x="0" y="0"/>
            <a:chExt cx="377952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779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Week 7–8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48640" y="8887968"/>
            <a:ext cx="2834640" cy="585216"/>
            <a:chOff x="0" y="0"/>
            <a:chExt cx="377952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79520" cy="780288"/>
            </a:xfrm>
            <a:custGeom>
              <a:avLst/>
              <a:gdLst/>
              <a:ahLst/>
              <a:cxnLst/>
              <a:rect r="r" b="b" t="t" l="l"/>
              <a:pathLst>
                <a:path h="78028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80" r="0" b="-443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7795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Vest Integration &amp; Pilot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749040" y="8046720"/>
            <a:ext cx="14081760" cy="402336"/>
            <a:chOff x="0" y="0"/>
            <a:chExt cx="1877568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8C4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Sew sensor unit into industrial vest housing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749040" y="8449056"/>
            <a:ext cx="14081760" cy="402336"/>
            <a:chOff x="0" y="0"/>
            <a:chExt cx="18775680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8C4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5-person 4-hour pilot shift wear test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749040" y="8851392"/>
            <a:ext cx="14081760" cy="402336"/>
            <a:chOff x="0" y="0"/>
            <a:chExt cx="18775680" cy="5364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8C4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Log MSD risk events vs manual REBA scores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749040" y="9253728"/>
            <a:ext cx="14081760" cy="402336"/>
            <a:chOff x="0" y="0"/>
            <a:chExt cx="1877568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77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8775680" cy="536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8C4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◆ 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Iterate on haptic pattern feedback from workers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-12697" y="9812526"/>
            <a:ext cx="18313403" cy="747779"/>
            <a:chOff x="0" y="0"/>
            <a:chExt cx="24417871" cy="99703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417910" cy="997077"/>
            </a:xfrm>
            <a:custGeom>
              <a:avLst/>
              <a:gdLst/>
              <a:ahLst/>
              <a:cxnLst/>
              <a:rect r="r" b="b" t="t" l="l"/>
              <a:pathLst>
                <a:path h="99707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997077"/>
                  </a:lnTo>
                  <a:lnTo>
                    <a:pt x="0" y="997077"/>
                  </a:lnTo>
                  <a:close/>
                </a:path>
              </a:pathLst>
            </a:custGeom>
            <a:solidFill>
              <a:srgbClr val="3D3D3D"/>
            </a:solidFill>
            <a:ln w="25400" cap="sq">
              <a:solidFill>
                <a:srgbClr val="3D3D3D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9812526"/>
            <a:ext cx="16459200" cy="512064"/>
            <a:chOff x="0" y="0"/>
            <a:chExt cx="2194560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194560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MILESTONE: Working vest prototype validated on real industrial floor within 8 weeks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865883"/>
            <a:chOff x="0" y="0"/>
            <a:chExt cx="24417871" cy="5154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5154549"/>
            </a:xfrm>
            <a:custGeom>
              <a:avLst/>
              <a:gdLst/>
              <a:ahLst/>
              <a:cxnLst/>
              <a:rect r="r" b="b" t="t" l="l"/>
              <a:pathLst>
                <a:path h="5154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C8E600"/>
            </a:solidFill>
            <a:ln w="25400" cap="sq">
              <a:solidFill>
                <a:srgbClr val="C8E6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850262"/>
            <a:chOff x="0" y="0"/>
            <a:chExt cx="21945600" cy="2467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67016"/>
            </a:xfrm>
            <a:custGeom>
              <a:avLst/>
              <a:gdLst/>
              <a:ahLst/>
              <a:cxnLst/>
              <a:rect r="r" b="b" t="t" l="l"/>
              <a:pathLst>
                <a:path h="24670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67016"/>
                  </a:lnTo>
                  <a:lnTo>
                    <a:pt x="0" y="24670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95" r="0" b="-1128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467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spc="1600">
                  <a:solidFill>
                    <a:srgbClr val="14141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FEMFIT-INDUSTRIAL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768096"/>
            <a:chOff x="0" y="0"/>
            <a:chExt cx="21945600" cy="1024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945600" cy="1014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2A2A2A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Protecting the Women Who Power Industry — At the Edge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4284983"/>
            <a:ext cx="8437883" cy="5054603"/>
            <a:chOff x="0" y="0"/>
            <a:chExt cx="11250511" cy="6739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50549" cy="6739509"/>
            </a:xfrm>
            <a:custGeom>
              <a:avLst/>
              <a:gdLst/>
              <a:ahLst/>
              <a:cxnLst/>
              <a:rect r="r" b="b" t="t" l="l"/>
              <a:pathLst>
                <a:path h="6739509" w="11250549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10956417" y="0"/>
                  </a:lnTo>
                  <a:cubicBezTo>
                    <a:pt x="11118850" y="0"/>
                    <a:pt x="11250549" y="131699"/>
                    <a:pt x="11250549" y="294132"/>
                  </a:cubicBezTo>
                  <a:lnTo>
                    <a:pt x="11250549" y="6445377"/>
                  </a:lnTo>
                  <a:cubicBezTo>
                    <a:pt x="11250549" y="6607810"/>
                    <a:pt x="11118850" y="6739509"/>
                    <a:pt x="10956417" y="6739509"/>
                  </a:cubicBezTo>
                  <a:lnTo>
                    <a:pt x="294132" y="6739509"/>
                  </a:lnTo>
                  <a:cubicBezTo>
                    <a:pt x="131699" y="6739509"/>
                    <a:pt x="0" y="6607810"/>
                    <a:pt x="0" y="6445377"/>
                  </a:cubicBezTo>
                  <a:close/>
                </a:path>
              </a:pathLst>
            </a:custGeom>
            <a:solidFill>
              <a:srgbClr val="2A2A2A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4572000"/>
            <a:ext cx="7680960" cy="768096"/>
            <a:chOff x="0" y="0"/>
            <a:chExt cx="1024128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24128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C8E6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GILDED GIRL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5340096"/>
            <a:ext cx="7680960" cy="1145821"/>
            <a:chOff x="0" y="0"/>
            <a:chExt cx="10241280" cy="1527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1527762"/>
            </a:xfrm>
            <a:custGeom>
              <a:avLst/>
              <a:gdLst/>
              <a:ahLst/>
              <a:cxnLst/>
              <a:rect r="r" b="b" t="t" l="l"/>
              <a:pathLst>
                <a:path h="152776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27762"/>
                  </a:lnTo>
                  <a:lnTo>
                    <a:pt x="0" y="15277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31" r="0" b="-769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241280" cy="152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Komal Harshita K.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6400800"/>
            <a:ext cx="7680960" cy="914400"/>
            <a:chOff x="0" y="0"/>
            <a:chExt cx="1024128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241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B.E. Computer Science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AAAA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Savitribai Phule Pune University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160" y="7315200"/>
            <a:ext cx="7680960" cy="512064"/>
            <a:chOff x="0" y="0"/>
            <a:chExt cx="1024128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2412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C8E6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Data Analytics  ·  TinyML  ·  Edge AI  ·  Open Source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0160" y="7900416"/>
            <a:ext cx="7680960" cy="512064"/>
            <a:chOff x="0" y="0"/>
            <a:chExt cx="10241280" cy="68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241280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88888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https://www.linkedin.com/in/komalharshita/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45703" y="4284983"/>
            <a:ext cx="7523483" cy="5054603"/>
            <a:chOff x="0" y="0"/>
            <a:chExt cx="10031311" cy="67394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31349" cy="6739509"/>
            </a:xfrm>
            <a:custGeom>
              <a:avLst/>
              <a:gdLst/>
              <a:ahLst/>
              <a:cxnLst/>
              <a:rect r="r" b="b" t="t" l="l"/>
              <a:pathLst>
                <a:path h="6739509" w="10031349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9737217" y="0"/>
                  </a:lnTo>
                  <a:cubicBezTo>
                    <a:pt x="9899650" y="0"/>
                    <a:pt x="10031349" y="131699"/>
                    <a:pt x="10031349" y="294132"/>
                  </a:cubicBezTo>
                  <a:lnTo>
                    <a:pt x="10031349" y="6445377"/>
                  </a:lnTo>
                  <a:cubicBezTo>
                    <a:pt x="10031349" y="6607810"/>
                    <a:pt x="9899650" y="6739509"/>
                    <a:pt x="9737217" y="6739509"/>
                  </a:cubicBezTo>
                  <a:lnTo>
                    <a:pt x="294132" y="6739509"/>
                  </a:lnTo>
                  <a:cubicBezTo>
                    <a:pt x="131699" y="6739509"/>
                    <a:pt x="0" y="6607810"/>
                    <a:pt x="0" y="6445377"/>
                  </a:cubicBezTo>
                  <a:close/>
                </a:path>
              </a:pathLst>
            </a:custGeom>
            <a:solidFill>
              <a:srgbClr val="F5C800"/>
            </a:solidFill>
            <a:ln w="25400" cap="sq">
              <a:solidFill>
                <a:srgbClr val="F5C8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332720" y="4572000"/>
            <a:ext cx="6949440" cy="694944"/>
            <a:chOff x="0" y="0"/>
            <a:chExt cx="926592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2659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THIS MATTERS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332720" y="5449824"/>
            <a:ext cx="6949440" cy="804672"/>
            <a:chOff x="0" y="0"/>
            <a:chExt cx="9265920" cy="1072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26592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  </a:t>
              </a:r>
              <a:r>
                <a:rPr lang="en-US" sz="2000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600M+ female industrial workers underserved by current safety tools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332720" y="6364224"/>
            <a:ext cx="6949440" cy="804672"/>
            <a:chOff x="0" y="0"/>
            <a:chExt cx="9265920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26592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  </a:t>
              </a:r>
              <a:r>
                <a:rPr lang="en-US" sz="2000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Edge AI means it works everywhere — no wifi, no cloud, no latency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332720" y="7278624"/>
            <a:ext cx="6949440" cy="804672"/>
            <a:chOff x="0" y="0"/>
            <a:chExt cx="926592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26592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  </a:t>
              </a:r>
              <a:r>
                <a:rPr lang="en-US" sz="2000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Female-calibrated thresholds — a genuine biomechanical first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332720" y="8193024"/>
            <a:ext cx="6949440" cy="804672"/>
            <a:chOff x="0" y="0"/>
            <a:chExt cx="9265920" cy="10728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26592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141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  </a:t>
              </a:r>
              <a:r>
                <a:rPr lang="en-US" sz="2000">
                  <a:solidFill>
                    <a:srgbClr val="1414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Open-source PoC — any researcher can build on it today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DAHMPEoYFKg</dc:identifier>
  <dcterms:modified xsi:type="dcterms:W3CDTF">2011-08-01T06:04:30Z</dcterms:modified>
  <cp:revision>1</cp:revision>
  <dc:title>FemFit_Hackathon_Presentation.pptx</dc:title>
</cp:coreProperties>
</file>